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9" r:id="rId9"/>
    <p:sldId id="265" r:id="rId10"/>
    <p:sldId id="266" r:id="rId11"/>
    <p:sldId id="267" r:id="rId12"/>
    <p:sldId id="268" r:id="rId13"/>
  </p:sldIdLst>
  <p:sldSz cx="18288000" cy="10287000"/>
  <p:notesSz cx="7104063" cy="102346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3" d="100"/>
          <a:sy n="73" d="100"/>
        </p:scale>
        <p:origin x="594"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10407" y="4861441"/>
            <a:ext cx="5683250" cy="4605576"/>
          </a:xfrm>
          <a:prstGeom prst="rect">
            <a:avLst/>
          </a:prstGeom>
          <a:noFill/>
          <a:ln>
            <a:noFill/>
          </a:ln>
        </p:spPr>
        <p:txBody>
          <a:bodyPr spcFirstLastPara="1" wrap="square" lIns="99059" tIns="99059" rIns="99059" bIns="99059"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02029317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710407" y="4861441"/>
            <a:ext cx="5683250" cy="4605576"/>
          </a:xfrm>
          <a:prstGeom prst="rect">
            <a:avLst/>
          </a:prstGeom>
        </p:spPr>
        <p:txBody>
          <a:bodyPr spcFirstLastPara="1" wrap="square" lIns="99059" tIns="99059" rIns="99059" bIns="99059" anchor="t" anchorCtr="0">
            <a:noAutofit/>
          </a:bodyPr>
          <a:lstStyle/>
          <a:p>
            <a:pPr marL="0" indent="0">
              <a:buNone/>
            </a:pPr>
            <a:endParaRPr/>
          </a:p>
        </p:txBody>
      </p:sp>
      <p:sp>
        <p:nvSpPr>
          <p:cNvPr id="82" name="Google Shape;82;p1: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37107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710407" y="4861441"/>
            <a:ext cx="5683250" cy="4605576"/>
          </a:xfrm>
          <a:prstGeom prst="rect">
            <a:avLst/>
          </a:prstGeom>
        </p:spPr>
        <p:txBody>
          <a:bodyPr spcFirstLastPara="1" wrap="square" lIns="99059" tIns="99059" rIns="99059" bIns="99059" anchor="t" anchorCtr="0">
            <a:noAutofit/>
          </a:bodyPr>
          <a:lstStyle/>
          <a:p>
            <a:pPr marL="0" indent="0">
              <a:buNone/>
            </a:pPr>
            <a:endParaRPr/>
          </a:p>
        </p:txBody>
      </p:sp>
      <p:sp>
        <p:nvSpPr>
          <p:cNvPr id="90" name="Google Shape;90;p2: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62847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710407" y="4861441"/>
            <a:ext cx="5683250" cy="4605576"/>
          </a:xfrm>
          <a:prstGeom prst="rect">
            <a:avLst/>
          </a:prstGeom>
        </p:spPr>
        <p:txBody>
          <a:bodyPr spcFirstLastPara="1" wrap="square" lIns="99059" tIns="99059" rIns="99059" bIns="99059" anchor="t" anchorCtr="0">
            <a:noAutofit/>
          </a:bodyPr>
          <a:lstStyle/>
          <a:p>
            <a:pPr marL="0" indent="0">
              <a:buNone/>
            </a:pPr>
            <a:endParaRPr/>
          </a:p>
        </p:txBody>
      </p:sp>
      <p:sp>
        <p:nvSpPr>
          <p:cNvPr id="101" name="Google Shape;101;p3: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4940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txBox="1">
            <a:spLocks noGrp="1"/>
          </p:cNvSpPr>
          <p:nvPr>
            <p:ph type="body" idx="1"/>
          </p:nvPr>
        </p:nvSpPr>
        <p:spPr>
          <a:xfrm>
            <a:off x="710407" y="4861441"/>
            <a:ext cx="5683250" cy="4605576"/>
          </a:xfrm>
          <a:prstGeom prst="rect">
            <a:avLst/>
          </a:prstGeom>
        </p:spPr>
        <p:txBody>
          <a:bodyPr spcFirstLastPara="1" wrap="square" lIns="99059" tIns="99059" rIns="99059" bIns="99059" anchor="t" anchorCtr="0">
            <a:noAutofit/>
          </a:bodyPr>
          <a:lstStyle/>
          <a:p>
            <a:pPr marL="0" indent="0">
              <a:buNone/>
            </a:pPr>
            <a:endParaRPr/>
          </a:p>
        </p:txBody>
      </p:sp>
      <p:sp>
        <p:nvSpPr>
          <p:cNvPr id="109" name="Google Shape;109;p4: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82140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5:notes"/>
          <p:cNvSpPr txBox="1">
            <a:spLocks noGrp="1"/>
          </p:cNvSpPr>
          <p:nvPr>
            <p:ph type="body" idx="1"/>
          </p:nvPr>
        </p:nvSpPr>
        <p:spPr>
          <a:xfrm>
            <a:off x="710407" y="4861441"/>
            <a:ext cx="5683250" cy="4605576"/>
          </a:xfrm>
          <a:prstGeom prst="rect">
            <a:avLst/>
          </a:prstGeom>
        </p:spPr>
        <p:txBody>
          <a:bodyPr spcFirstLastPara="1" wrap="square" lIns="99059" tIns="99059" rIns="99059" bIns="99059" anchor="t" anchorCtr="0">
            <a:noAutofit/>
          </a:bodyPr>
          <a:lstStyle/>
          <a:p>
            <a:pPr marL="0" indent="0">
              <a:buNone/>
            </a:pPr>
            <a:endParaRPr/>
          </a:p>
        </p:txBody>
      </p:sp>
      <p:sp>
        <p:nvSpPr>
          <p:cNvPr id="160" name="Google Shape;160;p5: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19321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6:notes"/>
          <p:cNvSpPr txBox="1">
            <a:spLocks noGrp="1"/>
          </p:cNvSpPr>
          <p:nvPr>
            <p:ph type="body" idx="1"/>
          </p:nvPr>
        </p:nvSpPr>
        <p:spPr>
          <a:xfrm>
            <a:off x="710407" y="4861441"/>
            <a:ext cx="5683250" cy="4605576"/>
          </a:xfrm>
          <a:prstGeom prst="rect">
            <a:avLst/>
          </a:prstGeom>
        </p:spPr>
        <p:txBody>
          <a:bodyPr spcFirstLastPara="1" wrap="square" lIns="99059" tIns="99059" rIns="99059" bIns="99059" anchor="t" anchorCtr="0">
            <a:noAutofit/>
          </a:bodyPr>
          <a:lstStyle/>
          <a:p>
            <a:pPr marL="0" indent="0">
              <a:buNone/>
            </a:pPr>
            <a:endParaRPr/>
          </a:p>
        </p:txBody>
      </p:sp>
      <p:sp>
        <p:nvSpPr>
          <p:cNvPr id="178" name="Google Shape;178;p6: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03967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7:notes"/>
          <p:cNvSpPr txBox="1">
            <a:spLocks noGrp="1"/>
          </p:cNvSpPr>
          <p:nvPr>
            <p:ph type="body" idx="1"/>
          </p:nvPr>
        </p:nvSpPr>
        <p:spPr>
          <a:xfrm>
            <a:off x="710407" y="4861441"/>
            <a:ext cx="5683250" cy="4605576"/>
          </a:xfrm>
          <a:prstGeom prst="rect">
            <a:avLst/>
          </a:prstGeom>
        </p:spPr>
        <p:txBody>
          <a:bodyPr spcFirstLastPara="1" wrap="square" lIns="99059" tIns="99059" rIns="99059" bIns="99059" anchor="t" anchorCtr="0">
            <a:noAutofit/>
          </a:bodyPr>
          <a:lstStyle/>
          <a:p>
            <a:pPr marL="0" indent="0">
              <a:buNone/>
            </a:pPr>
            <a:endParaRPr/>
          </a:p>
        </p:txBody>
      </p:sp>
      <p:sp>
        <p:nvSpPr>
          <p:cNvPr id="202" name="Google Shape;202;p7: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56469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0:notes"/>
          <p:cNvSpPr txBox="1">
            <a:spLocks noGrp="1"/>
          </p:cNvSpPr>
          <p:nvPr>
            <p:ph type="body" idx="1"/>
          </p:nvPr>
        </p:nvSpPr>
        <p:spPr>
          <a:xfrm>
            <a:off x="710407" y="4861441"/>
            <a:ext cx="5683250" cy="4605576"/>
          </a:xfrm>
          <a:prstGeom prst="rect">
            <a:avLst/>
          </a:prstGeom>
        </p:spPr>
        <p:txBody>
          <a:bodyPr spcFirstLastPara="1" wrap="square" lIns="99059" tIns="99059" rIns="99059" bIns="99059" anchor="t" anchorCtr="0">
            <a:noAutofit/>
          </a:bodyPr>
          <a:lstStyle/>
          <a:p>
            <a:pPr marL="0" indent="0">
              <a:buNone/>
            </a:pPr>
            <a:endParaRPr/>
          </a:p>
        </p:txBody>
      </p:sp>
      <p:sp>
        <p:nvSpPr>
          <p:cNvPr id="319" name="Google Shape;319;p10: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13064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11:notes"/>
          <p:cNvSpPr txBox="1">
            <a:spLocks noGrp="1"/>
          </p:cNvSpPr>
          <p:nvPr>
            <p:ph type="body" idx="1"/>
          </p:nvPr>
        </p:nvSpPr>
        <p:spPr>
          <a:xfrm>
            <a:off x="710407" y="4861441"/>
            <a:ext cx="5683250" cy="4605576"/>
          </a:xfrm>
          <a:prstGeom prst="rect">
            <a:avLst/>
          </a:prstGeom>
        </p:spPr>
        <p:txBody>
          <a:bodyPr spcFirstLastPara="1" wrap="square" lIns="99059" tIns="99059" rIns="99059" bIns="99059" anchor="t" anchorCtr="0">
            <a:noAutofit/>
          </a:bodyPr>
          <a:lstStyle/>
          <a:p>
            <a:pPr marL="0" indent="0">
              <a:buNone/>
            </a:pPr>
            <a:endParaRPr/>
          </a:p>
        </p:txBody>
      </p:sp>
      <p:sp>
        <p:nvSpPr>
          <p:cNvPr id="349" name="Google Shape;349;p11: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185206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12:notes"/>
          <p:cNvSpPr txBox="1">
            <a:spLocks noGrp="1"/>
          </p:cNvSpPr>
          <p:nvPr>
            <p:ph type="body" idx="1"/>
          </p:nvPr>
        </p:nvSpPr>
        <p:spPr>
          <a:xfrm>
            <a:off x="710407" y="4861441"/>
            <a:ext cx="5683250" cy="4605576"/>
          </a:xfrm>
          <a:prstGeom prst="rect">
            <a:avLst/>
          </a:prstGeom>
        </p:spPr>
        <p:txBody>
          <a:bodyPr spcFirstLastPara="1" wrap="square" lIns="99059" tIns="99059" rIns="99059" bIns="99059" anchor="t" anchorCtr="0">
            <a:noAutofit/>
          </a:bodyPr>
          <a:lstStyle/>
          <a:p>
            <a:pPr marL="0" indent="0">
              <a:buNone/>
            </a:pPr>
            <a:endParaRPr/>
          </a:p>
        </p:txBody>
      </p:sp>
      <p:sp>
        <p:nvSpPr>
          <p:cNvPr id="359" name="Google Shape;359;p12: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75083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13:notes"/>
          <p:cNvSpPr txBox="1">
            <a:spLocks noGrp="1"/>
          </p:cNvSpPr>
          <p:nvPr>
            <p:ph type="body" idx="1"/>
          </p:nvPr>
        </p:nvSpPr>
        <p:spPr>
          <a:xfrm>
            <a:off x="710407" y="4861441"/>
            <a:ext cx="5683250" cy="4605576"/>
          </a:xfrm>
          <a:prstGeom prst="rect">
            <a:avLst/>
          </a:prstGeom>
        </p:spPr>
        <p:txBody>
          <a:bodyPr spcFirstLastPara="1" wrap="square" lIns="99059" tIns="99059" rIns="99059" bIns="99059" anchor="t" anchorCtr="0">
            <a:noAutofit/>
          </a:bodyPr>
          <a:lstStyle/>
          <a:p>
            <a:pPr marL="0" indent="0">
              <a:buNone/>
            </a:pPr>
            <a:endParaRPr/>
          </a:p>
        </p:txBody>
      </p:sp>
      <p:sp>
        <p:nvSpPr>
          <p:cNvPr id="368" name="Google Shape;368;p13: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84099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6" name="Picture 4" descr="Cardiology: Common Causes of Heart Disorders - Florida Premier Cardiology  Boynton Beach, F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extLst>
            <a:ext uri="{909E8E84-426E-40DD-AFC4-6F175D3DCCD1}">
              <a14:hiddenFill xmlns:a14="http://schemas.microsoft.com/office/drawing/2010/main">
                <a:solidFill>
                  <a:srgbClr val="FFFFFF"/>
                </a:solidFill>
              </a14:hiddenFill>
            </a:ext>
          </a:extLst>
        </p:spPr>
      </p:pic>
      <p:sp>
        <p:nvSpPr>
          <p:cNvPr id="86" name="Google Shape;86;p13"/>
          <p:cNvSpPr/>
          <p:nvPr/>
        </p:nvSpPr>
        <p:spPr>
          <a:xfrm>
            <a:off x="0" y="1179621"/>
            <a:ext cx="18288000" cy="169692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IN" sz="12000" b="1" i="0" u="none" strike="noStrike" cap="none" dirty="0" smtClean="0">
                <a:solidFill>
                  <a:schemeClr val="lt1"/>
                </a:solidFill>
                <a:latin typeface="Ink Free" panose="03080402000500000000" pitchFamily="66" charset="0"/>
                <a:ea typeface="Impact"/>
                <a:cs typeface="Impact"/>
                <a:sym typeface="Impact"/>
              </a:rPr>
              <a:t>Heart Disease Prediction</a:t>
            </a:r>
            <a:endParaRPr sz="12000" b="1" dirty="0">
              <a:solidFill>
                <a:schemeClr val="lt1"/>
              </a:solidFill>
              <a:latin typeface="Ink Free" panose="03080402000500000000" pitchFamily="66" charset="0"/>
              <a:ea typeface="Impact"/>
              <a:cs typeface="Impact"/>
              <a:sym typeface="Impact"/>
            </a:endParaRPr>
          </a:p>
        </p:txBody>
      </p:sp>
      <p:sp>
        <p:nvSpPr>
          <p:cNvPr id="7" name="Google Shape;86;p13"/>
          <p:cNvSpPr/>
          <p:nvPr/>
        </p:nvSpPr>
        <p:spPr>
          <a:xfrm>
            <a:off x="1764574" y="3198922"/>
            <a:ext cx="14400790" cy="1087328"/>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IN" sz="6600" b="1" i="0" u="none" strike="noStrike" cap="none" dirty="0" smtClean="0">
                <a:solidFill>
                  <a:schemeClr val="lt1"/>
                </a:solidFill>
                <a:latin typeface="Comic Sans MS" panose="030F0702030302020204" pitchFamily="66" charset="0"/>
                <a:ea typeface="Impact"/>
                <a:cs typeface="Impact"/>
                <a:sym typeface="Impact"/>
              </a:rPr>
              <a:t>Using Classification</a:t>
            </a:r>
            <a:endParaRPr sz="6600" b="1" dirty="0">
              <a:solidFill>
                <a:schemeClr val="lt1"/>
              </a:solidFill>
              <a:latin typeface="Comic Sans MS" panose="030F0702030302020204" pitchFamily="66" charset="0"/>
              <a:ea typeface="Impact"/>
              <a:cs typeface="Impact"/>
              <a:sym typeface="Impact"/>
            </a:endParaRPr>
          </a:p>
        </p:txBody>
      </p:sp>
      <p:sp>
        <p:nvSpPr>
          <p:cNvPr id="2" name="Rectangle 1"/>
          <p:cNvSpPr/>
          <p:nvPr/>
        </p:nvSpPr>
        <p:spPr>
          <a:xfrm>
            <a:off x="13676216" y="8875812"/>
            <a:ext cx="3927677" cy="830997"/>
          </a:xfrm>
          <a:prstGeom prst="rect">
            <a:avLst/>
          </a:prstGeom>
        </p:spPr>
        <p:txBody>
          <a:bodyPr wrap="none">
            <a:spAutoFit/>
          </a:bodyPr>
          <a:lstStyle/>
          <a:p>
            <a:pPr lvl="0" algn="ctr"/>
            <a:r>
              <a:rPr lang="en-IN" sz="4800" b="1" dirty="0" err="1" smtClean="0">
                <a:solidFill>
                  <a:srgbClr val="FFC000"/>
                </a:solidFill>
                <a:latin typeface="Comic Sans MS" panose="030F0702030302020204" pitchFamily="66" charset="0"/>
                <a:ea typeface="Impact"/>
                <a:cs typeface="Impact"/>
                <a:sym typeface="Impact"/>
              </a:rPr>
              <a:t>Annya</a:t>
            </a:r>
            <a:r>
              <a:rPr lang="en-IN" sz="4800" b="1" dirty="0" smtClean="0">
                <a:solidFill>
                  <a:srgbClr val="FFC000"/>
                </a:solidFill>
                <a:latin typeface="Comic Sans MS" panose="030F0702030302020204" pitchFamily="66" charset="0"/>
                <a:ea typeface="Impact"/>
                <a:cs typeface="Impact"/>
                <a:sym typeface="Impact"/>
              </a:rPr>
              <a:t> Gupta</a:t>
            </a:r>
            <a:endParaRPr lang="en-IN" sz="4800" b="1" dirty="0">
              <a:solidFill>
                <a:srgbClr val="FFC000"/>
              </a:solidFill>
              <a:latin typeface="Comic Sans MS" panose="030F0702030302020204" pitchFamily="66" charset="0"/>
              <a:ea typeface="Impact"/>
              <a:cs typeface="Impact"/>
              <a:sym typeface="Impac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6"/>
                                        </p:tgtEl>
                                        <p:attrNameLst>
                                          <p:attrName>style.visibility</p:attrName>
                                        </p:attrNameLst>
                                      </p:cBhvr>
                                      <p:to>
                                        <p:strVal val="visible"/>
                                      </p:to>
                                    </p:set>
                                    <p:anim calcmode="lin" valueType="num">
                                      <p:cBhvr additive="base">
                                        <p:cTn id="7" dur="500"/>
                                        <p:tgtEl>
                                          <p:spTgt spid="86"/>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13" name="Picture 4" descr="Cardiology: Common Causes of Heart Disorders - Florida Premier Cardiology  Boynton Beach, F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4"/>
          <p:cNvSpPr txBox="1"/>
          <p:nvPr/>
        </p:nvSpPr>
        <p:spPr>
          <a:xfrm>
            <a:off x="6248399" y="419098"/>
            <a:ext cx="8094617" cy="1107996"/>
          </a:xfrm>
          <a:prstGeom prst="rect">
            <a:avLst/>
          </a:prstGeom>
          <a:noFill/>
          <a:ln>
            <a:noFill/>
          </a:ln>
        </p:spPr>
        <p:txBody>
          <a:bodyPr spcFirstLastPara="1" wrap="square" lIns="0" tIns="0" rIns="0" bIns="0" anchor="t" anchorCtr="0">
            <a:spAutoFit/>
          </a:bodyPr>
          <a:lstStyle/>
          <a:p>
            <a:pPr marL="0" marR="0" lvl="0" indent="0" algn="l" rtl="0">
              <a:lnSpc>
                <a:spcPct val="90125"/>
              </a:lnSpc>
              <a:spcBef>
                <a:spcPts val="0"/>
              </a:spcBef>
              <a:spcAft>
                <a:spcPts val="0"/>
              </a:spcAft>
              <a:buNone/>
            </a:pPr>
            <a:r>
              <a:rPr lang="en-US" sz="8000" b="1" dirty="0">
                <a:solidFill>
                  <a:schemeClr val="lt1"/>
                </a:solidFill>
                <a:latin typeface="MV Boli" panose="02000500030200090000" pitchFamily="2" charset="0"/>
                <a:ea typeface="Impact"/>
                <a:cs typeface="MV Boli" panose="02000500030200090000" pitchFamily="2" charset="0"/>
                <a:sym typeface="Impact"/>
              </a:rPr>
              <a:t>Introduction</a:t>
            </a:r>
            <a:endParaRPr sz="1100" b="1" dirty="0">
              <a:latin typeface="MV Boli" panose="02000500030200090000" pitchFamily="2" charset="0"/>
              <a:cs typeface="MV Boli" panose="02000500030200090000" pitchFamily="2" charset="0"/>
            </a:endParaRPr>
          </a:p>
        </p:txBody>
      </p:sp>
      <p:sp>
        <p:nvSpPr>
          <p:cNvPr id="94" name="Google Shape;94;p14"/>
          <p:cNvSpPr/>
          <p:nvPr/>
        </p:nvSpPr>
        <p:spPr>
          <a:xfrm>
            <a:off x="800100" y="1592384"/>
            <a:ext cx="16516350" cy="8485066"/>
          </a:xfrm>
          <a:prstGeom prst="rect">
            <a:avLst/>
          </a:prstGeom>
          <a:noFill/>
          <a:ln>
            <a:noFill/>
          </a:ln>
        </p:spPr>
        <p:txBody>
          <a:bodyPr spcFirstLastPara="1" wrap="square" lIns="91425" tIns="45700" rIns="91425" bIns="45700" anchor="t" anchorCtr="0">
            <a:noAutofit/>
          </a:bodyPr>
          <a:lstStyle/>
          <a:p>
            <a:pPr algn="just">
              <a:lnSpc>
                <a:spcPct val="150000"/>
              </a:lnSpc>
            </a:pPr>
            <a:r>
              <a:rPr lang="en-GB" sz="2800" dirty="0" smtClean="0">
                <a:solidFill>
                  <a:schemeClr val="bg1"/>
                </a:solidFill>
                <a:latin typeface="Comic Sans MS" panose="030F0702030302020204" pitchFamily="66" charset="0"/>
              </a:rPr>
              <a:t>1. Heart </a:t>
            </a:r>
            <a:r>
              <a:rPr lang="en-GB" sz="2800" dirty="0">
                <a:solidFill>
                  <a:schemeClr val="bg1"/>
                </a:solidFill>
                <a:latin typeface="Comic Sans MS" panose="030F0702030302020204" pitchFamily="66" charset="0"/>
              </a:rPr>
              <a:t>disease remains one of the leading causes of death worldwide. Many patients fail to receive early warnings because identifying risk manually requires experience, time, and careful analysis of multiple health indicators</a:t>
            </a:r>
            <a:r>
              <a:rPr lang="en-GB" sz="2800" dirty="0" smtClean="0">
                <a:solidFill>
                  <a:schemeClr val="bg1"/>
                </a:solidFill>
                <a:latin typeface="Comic Sans MS" panose="030F0702030302020204" pitchFamily="66" charset="0"/>
              </a:rPr>
              <a:t>.</a:t>
            </a:r>
          </a:p>
          <a:p>
            <a:pPr algn="just">
              <a:lnSpc>
                <a:spcPct val="150000"/>
              </a:lnSpc>
            </a:pPr>
            <a:endParaRPr lang="en-GB" sz="2800" dirty="0" smtClean="0">
              <a:solidFill>
                <a:schemeClr val="bg1"/>
              </a:solidFill>
              <a:latin typeface="Comic Sans MS" panose="030F0702030302020204" pitchFamily="66" charset="0"/>
            </a:endParaRPr>
          </a:p>
          <a:p>
            <a:pPr algn="just">
              <a:lnSpc>
                <a:spcPct val="150000"/>
              </a:lnSpc>
            </a:pPr>
            <a:r>
              <a:rPr lang="en-GB" sz="2800" dirty="0" smtClean="0">
                <a:solidFill>
                  <a:schemeClr val="bg1"/>
                </a:solidFill>
                <a:latin typeface="Comic Sans MS" panose="030F0702030302020204" pitchFamily="66" charset="0"/>
              </a:rPr>
              <a:t>2. Machine </a:t>
            </a:r>
            <a:r>
              <a:rPr lang="en-GB" sz="2800" dirty="0">
                <a:solidFill>
                  <a:schemeClr val="bg1"/>
                </a:solidFill>
                <a:latin typeface="Comic Sans MS" panose="030F0702030302020204" pitchFamily="66" charset="0"/>
              </a:rPr>
              <a:t>learning helps automate this process by learning patterns from historical medical </a:t>
            </a:r>
            <a:r>
              <a:rPr lang="en-GB" sz="2800" dirty="0" smtClean="0">
                <a:solidFill>
                  <a:schemeClr val="bg1"/>
                </a:solidFill>
                <a:latin typeface="Comic Sans MS" panose="030F0702030302020204" pitchFamily="66" charset="0"/>
              </a:rPr>
              <a:t>data. This </a:t>
            </a:r>
            <a:r>
              <a:rPr lang="en-GB" sz="2800" dirty="0">
                <a:solidFill>
                  <a:schemeClr val="bg1"/>
                </a:solidFill>
                <a:latin typeface="Comic Sans MS" panose="030F0702030302020204" pitchFamily="66" charset="0"/>
              </a:rPr>
              <a:t>project builds a Heart Disease Classification Model that predicts whether a person is at risk of developing heart disease based on several medical attributes.</a:t>
            </a:r>
            <a:endParaRPr lang="en-GB" sz="2800" dirty="0" smtClean="0">
              <a:solidFill>
                <a:schemeClr val="bg1"/>
              </a:solidFill>
              <a:latin typeface="Comic Sans MS" panose="030F0702030302020204" pitchFamily="66" charset="0"/>
            </a:endParaRPr>
          </a:p>
          <a:p>
            <a:pPr algn="just">
              <a:lnSpc>
                <a:spcPct val="150000"/>
              </a:lnSpc>
            </a:pPr>
            <a:endParaRPr lang="en-GB" sz="2800" dirty="0">
              <a:solidFill>
                <a:schemeClr val="bg1"/>
              </a:solidFill>
              <a:latin typeface="Comic Sans MS" panose="030F0702030302020204" pitchFamily="66" charset="0"/>
            </a:endParaRPr>
          </a:p>
          <a:p>
            <a:pPr algn="just">
              <a:lnSpc>
                <a:spcPct val="150000"/>
              </a:lnSpc>
            </a:pPr>
            <a:r>
              <a:rPr lang="en-GB" sz="2800" dirty="0" smtClean="0">
                <a:solidFill>
                  <a:schemeClr val="bg1"/>
                </a:solidFill>
                <a:latin typeface="Comic Sans MS" panose="030F0702030302020204" pitchFamily="66" charset="0"/>
              </a:rPr>
              <a:t>3. The </a:t>
            </a:r>
            <a:r>
              <a:rPr lang="en-GB" sz="2800" dirty="0">
                <a:solidFill>
                  <a:schemeClr val="bg1"/>
                </a:solidFill>
                <a:latin typeface="Comic Sans MS" panose="030F0702030302020204" pitchFamily="66" charset="0"/>
              </a:rPr>
              <a:t>dataset typically includes features such as:</a:t>
            </a:r>
          </a:p>
          <a:p>
            <a:pPr algn="just">
              <a:lnSpc>
                <a:spcPct val="150000"/>
              </a:lnSpc>
            </a:pPr>
            <a:r>
              <a:rPr lang="en-GB" sz="2800" dirty="0" smtClean="0">
                <a:solidFill>
                  <a:schemeClr val="bg1"/>
                </a:solidFill>
                <a:latin typeface="Comic Sans MS" panose="030F0702030302020204" pitchFamily="66" charset="0"/>
              </a:rPr>
              <a:t>(</a:t>
            </a:r>
            <a:r>
              <a:rPr lang="en-GB" sz="2800" dirty="0" err="1" smtClean="0">
                <a:solidFill>
                  <a:schemeClr val="bg1"/>
                </a:solidFill>
                <a:latin typeface="Comic Sans MS" panose="030F0702030302020204" pitchFamily="66" charset="0"/>
              </a:rPr>
              <a:t>i</a:t>
            </a:r>
            <a:r>
              <a:rPr lang="en-GB" sz="2800" dirty="0" smtClean="0">
                <a:solidFill>
                  <a:schemeClr val="bg1"/>
                </a:solidFill>
                <a:latin typeface="Comic Sans MS" panose="030F0702030302020204" pitchFamily="66" charset="0"/>
              </a:rPr>
              <a:t>) Age					(ii) Sex					(iii) Chest </a:t>
            </a:r>
            <a:r>
              <a:rPr lang="en-GB" sz="2800" dirty="0">
                <a:solidFill>
                  <a:schemeClr val="bg1"/>
                </a:solidFill>
                <a:latin typeface="Comic Sans MS" panose="030F0702030302020204" pitchFamily="66" charset="0"/>
              </a:rPr>
              <a:t>Pain </a:t>
            </a:r>
            <a:r>
              <a:rPr lang="en-GB" sz="2800" dirty="0" smtClean="0">
                <a:solidFill>
                  <a:schemeClr val="bg1"/>
                </a:solidFill>
                <a:latin typeface="Comic Sans MS" panose="030F0702030302020204" pitchFamily="66" charset="0"/>
              </a:rPr>
              <a:t>Type	</a:t>
            </a:r>
          </a:p>
          <a:p>
            <a:pPr algn="just">
              <a:lnSpc>
                <a:spcPct val="150000"/>
              </a:lnSpc>
            </a:pPr>
            <a:r>
              <a:rPr lang="en-GB" sz="2800" dirty="0" smtClean="0">
                <a:solidFill>
                  <a:schemeClr val="bg1"/>
                </a:solidFill>
                <a:latin typeface="Comic Sans MS" panose="030F0702030302020204" pitchFamily="66" charset="0"/>
              </a:rPr>
              <a:t>(iv) Resting </a:t>
            </a:r>
            <a:r>
              <a:rPr lang="en-GB" sz="2800" dirty="0">
                <a:solidFill>
                  <a:schemeClr val="bg1"/>
                </a:solidFill>
                <a:latin typeface="Comic Sans MS" panose="030F0702030302020204" pitchFamily="66" charset="0"/>
              </a:rPr>
              <a:t>Blood </a:t>
            </a:r>
            <a:r>
              <a:rPr lang="en-GB" sz="2800" dirty="0" smtClean="0">
                <a:solidFill>
                  <a:schemeClr val="bg1"/>
                </a:solidFill>
                <a:latin typeface="Comic Sans MS" panose="030F0702030302020204" pitchFamily="66" charset="0"/>
              </a:rPr>
              <a:t>Pressure		(v) Cholesterol Level			(vi) Fasting </a:t>
            </a:r>
            <a:r>
              <a:rPr lang="en-GB" sz="2800" dirty="0">
                <a:solidFill>
                  <a:schemeClr val="bg1"/>
                </a:solidFill>
                <a:latin typeface="Comic Sans MS" panose="030F0702030302020204" pitchFamily="66" charset="0"/>
              </a:rPr>
              <a:t>Blood </a:t>
            </a:r>
            <a:r>
              <a:rPr lang="en-GB" sz="2800" dirty="0" smtClean="0">
                <a:solidFill>
                  <a:schemeClr val="bg1"/>
                </a:solidFill>
                <a:latin typeface="Comic Sans MS" panose="030F0702030302020204" pitchFamily="66" charset="0"/>
              </a:rPr>
              <a:t>Sugar</a:t>
            </a:r>
          </a:p>
          <a:p>
            <a:pPr algn="just">
              <a:lnSpc>
                <a:spcPct val="150000"/>
              </a:lnSpc>
            </a:pPr>
            <a:r>
              <a:rPr lang="en-GB" sz="2800" dirty="0" smtClean="0">
                <a:solidFill>
                  <a:schemeClr val="bg1"/>
                </a:solidFill>
                <a:latin typeface="Comic Sans MS" panose="030F0702030302020204" pitchFamily="66" charset="0"/>
              </a:rPr>
              <a:t>(vii) ECG Results				(viii) Max </a:t>
            </a:r>
            <a:r>
              <a:rPr lang="en-GB" sz="2800" dirty="0">
                <a:solidFill>
                  <a:schemeClr val="bg1"/>
                </a:solidFill>
                <a:latin typeface="Comic Sans MS" panose="030F0702030302020204" pitchFamily="66" charset="0"/>
              </a:rPr>
              <a:t>Heart Rate Achieved</a:t>
            </a:r>
          </a:p>
          <a:p>
            <a:pPr algn="just">
              <a:lnSpc>
                <a:spcPct val="150000"/>
              </a:lnSpc>
            </a:pPr>
            <a:r>
              <a:rPr lang="en-GB" sz="2800" dirty="0" smtClean="0">
                <a:solidFill>
                  <a:schemeClr val="bg1"/>
                </a:solidFill>
                <a:latin typeface="Comic Sans MS" panose="030F0702030302020204" pitchFamily="66" charset="0"/>
              </a:rPr>
              <a:t>This </a:t>
            </a:r>
            <a:r>
              <a:rPr lang="en-GB" sz="2800" dirty="0">
                <a:solidFill>
                  <a:schemeClr val="bg1"/>
                </a:solidFill>
                <a:latin typeface="Comic Sans MS" panose="030F0702030302020204" pitchFamily="66" charset="0"/>
              </a:rPr>
              <a:t>makes the model extremely useful for early screening and preventive healthcare.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500"/>
                                        <p:tgtEl>
                                          <p:spTgt spid="93"/>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4"/>
                                        </p:tgtEl>
                                        <p:attrNameLst>
                                          <p:attrName>style.visibility</p:attrName>
                                        </p:attrNameLst>
                                      </p:cBhvr>
                                      <p:to>
                                        <p:strVal val="visible"/>
                                      </p:to>
                                    </p:set>
                                    <p:anim calcmode="lin" valueType="num">
                                      <p:cBhvr additive="base">
                                        <p:cTn id="12" dur="500"/>
                                        <p:tgtEl>
                                          <p:spTgt spid="9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pic>
        <p:nvPicPr>
          <p:cNvPr id="10" name="Picture 4" descr="Cardiology: Common Causes of Heart Disorders - Florida Premier Cardiology  Boynton Beach, F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extLst>
            <a:ext uri="{909E8E84-426E-40DD-AFC4-6F175D3DCCD1}">
              <a14:hiddenFill xmlns:a14="http://schemas.microsoft.com/office/drawing/2010/main">
                <a:solidFill>
                  <a:srgbClr val="FFFFFF"/>
                </a:solidFill>
              </a14:hiddenFill>
            </a:ext>
          </a:extLst>
        </p:spPr>
      </p:pic>
      <p:sp>
        <p:nvSpPr>
          <p:cNvPr id="104" name="Google Shape;104;p15"/>
          <p:cNvSpPr txBox="1"/>
          <p:nvPr/>
        </p:nvSpPr>
        <p:spPr>
          <a:xfrm>
            <a:off x="704850" y="838200"/>
            <a:ext cx="16706850" cy="1107996"/>
          </a:xfrm>
          <a:prstGeom prst="rect">
            <a:avLst/>
          </a:prstGeom>
          <a:noFill/>
          <a:ln>
            <a:noFill/>
          </a:ln>
        </p:spPr>
        <p:txBody>
          <a:bodyPr spcFirstLastPara="1" wrap="square" lIns="0" tIns="0" rIns="0" bIns="0" anchor="t" anchorCtr="0">
            <a:spAutoFit/>
          </a:bodyPr>
          <a:lstStyle/>
          <a:p>
            <a:pPr marL="0" marR="0" lvl="0" indent="0" algn="ctr" rtl="0">
              <a:lnSpc>
                <a:spcPct val="90125"/>
              </a:lnSpc>
              <a:spcBef>
                <a:spcPts val="0"/>
              </a:spcBef>
              <a:spcAft>
                <a:spcPts val="0"/>
              </a:spcAft>
              <a:buNone/>
            </a:pPr>
            <a:r>
              <a:rPr lang="en-US" sz="8000" b="1" dirty="0">
                <a:solidFill>
                  <a:schemeClr val="lt1"/>
                </a:solidFill>
                <a:latin typeface="MV Boli" panose="02000500030200090000" pitchFamily="2" charset="0"/>
                <a:ea typeface="Impact"/>
                <a:cs typeface="MV Boli" panose="02000500030200090000" pitchFamily="2" charset="0"/>
                <a:sym typeface="Impact"/>
              </a:rPr>
              <a:t>AIM OF </a:t>
            </a:r>
            <a:r>
              <a:rPr lang="en-US" sz="8000" b="1" dirty="0" smtClean="0">
                <a:solidFill>
                  <a:schemeClr val="lt1"/>
                </a:solidFill>
                <a:latin typeface="MV Boli" panose="02000500030200090000" pitchFamily="2" charset="0"/>
                <a:ea typeface="Impact"/>
                <a:cs typeface="MV Boli" panose="02000500030200090000" pitchFamily="2" charset="0"/>
                <a:sym typeface="Impact"/>
              </a:rPr>
              <a:t>THE PROJECT</a:t>
            </a:r>
            <a:endParaRPr sz="8000" b="1" dirty="0">
              <a:solidFill>
                <a:schemeClr val="lt1"/>
              </a:solidFill>
              <a:latin typeface="MV Boli" panose="02000500030200090000" pitchFamily="2" charset="0"/>
              <a:ea typeface="Impact"/>
              <a:cs typeface="MV Boli" panose="02000500030200090000" pitchFamily="2" charset="0"/>
              <a:sym typeface="Impact"/>
            </a:endParaRPr>
          </a:p>
        </p:txBody>
      </p:sp>
      <p:sp>
        <p:nvSpPr>
          <p:cNvPr id="4" name="Rectangle 3"/>
          <p:cNvSpPr/>
          <p:nvPr/>
        </p:nvSpPr>
        <p:spPr>
          <a:xfrm>
            <a:off x="552450" y="2365296"/>
            <a:ext cx="16992600" cy="5909310"/>
          </a:xfrm>
          <a:prstGeom prst="rect">
            <a:avLst/>
          </a:prstGeom>
        </p:spPr>
        <p:txBody>
          <a:bodyPr wrap="square">
            <a:spAutoFit/>
          </a:bodyPr>
          <a:lstStyle/>
          <a:p>
            <a:pPr>
              <a:lnSpc>
                <a:spcPct val="150000"/>
              </a:lnSpc>
            </a:pPr>
            <a:r>
              <a:rPr lang="en-GB" sz="2800" dirty="0">
                <a:solidFill>
                  <a:schemeClr val="bg1"/>
                </a:solidFill>
                <a:latin typeface="Comic Sans MS" panose="030F0702030302020204" pitchFamily="66" charset="0"/>
              </a:rPr>
              <a:t>The primary goal of this project is to develop an accurate and reliable machine learning system that predicts the risk of heart disease using medical parameters.</a:t>
            </a:r>
          </a:p>
          <a:p>
            <a:pPr>
              <a:lnSpc>
                <a:spcPct val="150000"/>
              </a:lnSpc>
            </a:pPr>
            <a:r>
              <a:rPr lang="en-GB" sz="2800" b="1" dirty="0" smtClean="0">
                <a:solidFill>
                  <a:schemeClr val="bg1"/>
                </a:solidFill>
                <a:latin typeface="Comic Sans MS" panose="030F0702030302020204" pitchFamily="66" charset="0"/>
              </a:rPr>
              <a:t>    1. Identify </a:t>
            </a:r>
            <a:r>
              <a:rPr lang="en-GB" sz="2800" b="1" dirty="0">
                <a:solidFill>
                  <a:schemeClr val="bg1"/>
                </a:solidFill>
                <a:latin typeface="Comic Sans MS" panose="030F0702030302020204" pitchFamily="66" charset="0"/>
              </a:rPr>
              <a:t>high-risk patients early</a:t>
            </a:r>
            <a:endParaRPr lang="en-GB" sz="2800" dirty="0">
              <a:solidFill>
                <a:schemeClr val="bg1"/>
              </a:solidFill>
              <a:latin typeface="Comic Sans MS" panose="030F0702030302020204" pitchFamily="66" charset="0"/>
            </a:endParaRPr>
          </a:p>
          <a:p>
            <a:pPr>
              <a:lnSpc>
                <a:spcPct val="150000"/>
              </a:lnSpc>
            </a:pPr>
            <a:r>
              <a:rPr lang="en-GB" sz="2800" b="1" dirty="0" smtClean="0">
                <a:solidFill>
                  <a:schemeClr val="bg1"/>
                </a:solidFill>
                <a:latin typeface="Comic Sans MS" panose="030F0702030302020204" pitchFamily="66" charset="0"/>
              </a:rPr>
              <a:t>    2. Support </a:t>
            </a:r>
            <a:r>
              <a:rPr lang="en-GB" sz="2800" b="1" dirty="0">
                <a:solidFill>
                  <a:schemeClr val="bg1"/>
                </a:solidFill>
                <a:latin typeface="Comic Sans MS" panose="030F0702030302020204" pitchFamily="66" charset="0"/>
              </a:rPr>
              <a:t>doctors in clinical decision-making</a:t>
            </a:r>
            <a:endParaRPr lang="en-GB" sz="2800" dirty="0">
              <a:solidFill>
                <a:schemeClr val="bg1"/>
              </a:solidFill>
              <a:latin typeface="Comic Sans MS" panose="030F0702030302020204" pitchFamily="66" charset="0"/>
            </a:endParaRPr>
          </a:p>
          <a:p>
            <a:pPr>
              <a:lnSpc>
                <a:spcPct val="150000"/>
              </a:lnSpc>
            </a:pPr>
            <a:r>
              <a:rPr lang="en-GB" sz="2800" b="1" dirty="0" smtClean="0">
                <a:solidFill>
                  <a:schemeClr val="bg1"/>
                </a:solidFill>
                <a:latin typeface="Comic Sans MS" panose="030F0702030302020204" pitchFamily="66" charset="0"/>
              </a:rPr>
              <a:t>    3. Reduce </a:t>
            </a:r>
            <a:r>
              <a:rPr lang="en-GB" sz="2800" b="1" dirty="0">
                <a:solidFill>
                  <a:schemeClr val="bg1"/>
                </a:solidFill>
                <a:latin typeface="Comic Sans MS" panose="030F0702030302020204" pitchFamily="66" charset="0"/>
              </a:rPr>
              <a:t>chances of misdiagnosis</a:t>
            </a:r>
            <a:endParaRPr lang="en-GB" sz="2800" dirty="0">
              <a:solidFill>
                <a:schemeClr val="bg1"/>
              </a:solidFill>
              <a:latin typeface="Comic Sans MS" panose="030F0702030302020204" pitchFamily="66" charset="0"/>
            </a:endParaRPr>
          </a:p>
          <a:p>
            <a:pPr>
              <a:lnSpc>
                <a:spcPct val="150000"/>
              </a:lnSpc>
            </a:pPr>
            <a:r>
              <a:rPr lang="en-GB" sz="2800" b="1" dirty="0" smtClean="0">
                <a:solidFill>
                  <a:schemeClr val="bg1"/>
                </a:solidFill>
                <a:latin typeface="Comic Sans MS" panose="030F0702030302020204" pitchFamily="66" charset="0"/>
              </a:rPr>
              <a:t>    4. Assist </a:t>
            </a:r>
            <a:r>
              <a:rPr lang="en-GB" sz="2800" b="1" dirty="0">
                <a:solidFill>
                  <a:schemeClr val="bg1"/>
                </a:solidFill>
                <a:latin typeface="Comic Sans MS" panose="030F0702030302020204" pitchFamily="66" charset="0"/>
              </a:rPr>
              <a:t>hospitals in preventive care</a:t>
            </a:r>
            <a:endParaRPr lang="en-GB" sz="2800" dirty="0">
              <a:solidFill>
                <a:schemeClr val="bg1"/>
              </a:solidFill>
              <a:latin typeface="Comic Sans MS" panose="030F0702030302020204" pitchFamily="66" charset="0"/>
            </a:endParaRPr>
          </a:p>
          <a:p>
            <a:pPr>
              <a:lnSpc>
                <a:spcPct val="150000"/>
              </a:lnSpc>
            </a:pPr>
            <a:r>
              <a:rPr lang="en-GB" sz="2800" b="1" dirty="0" smtClean="0">
                <a:solidFill>
                  <a:schemeClr val="bg1"/>
                </a:solidFill>
                <a:latin typeface="Comic Sans MS" panose="030F0702030302020204" pitchFamily="66" charset="0"/>
              </a:rPr>
              <a:t>    5. Provide </a:t>
            </a:r>
            <a:r>
              <a:rPr lang="en-GB" sz="2800" b="1" dirty="0">
                <a:solidFill>
                  <a:schemeClr val="bg1"/>
                </a:solidFill>
                <a:latin typeface="Comic Sans MS" panose="030F0702030302020204" pitchFamily="66" charset="0"/>
              </a:rPr>
              <a:t>quick and consistent predictions</a:t>
            </a:r>
            <a:endParaRPr lang="en-GB" sz="2800" dirty="0">
              <a:solidFill>
                <a:schemeClr val="bg1"/>
              </a:solidFill>
              <a:latin typeface="Comic Sans MS" panose="030F0702030302020204" pitchFamily="66" charset="0"/>
            </a:endParaRPr>
          </a:p>
          <a:p>
            <a:pPr>
              <a:lnSpc>
                <a:spcPct val="150000"/>
              </a:lnSpc>
            </a:pPr>
            <a:r>
              <a:rPr lang="en-GB" sz="2800" dirty="0">
                <a:solidFill>
                  <a:schemeClr val="bg1"/>
                </a:solidFill>
                <a:latin typeface="Comic Sans MS" panose="030F0702030302020204" pitchFamily="66" charset="0"/>
              </a:rPr>
              <a:t>The project trains multiple classification algorithms and compares their performance to determine the best-predicting model.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4"/>
                                        </p:tgtEl>
                                        <p:attrNameLst>
                                          <p:attrName>style.visibility</p:attrName>
                                        </p:attrNameLst>
                                      </p:cBhvr>
                                      <p:to>
                                        <p:strVal val="visible"/>
                                      </p:to>
                                    </p:set>
                                    <p:anim calcmode="lin" valueType="num">
                                      <p:cBhvr additive="base">
                                        <p:cTn id="7" dur="500"/>
                                        <p:tgtEl>
                                          <p:spTgt spid="10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52" name="Picture 4" descr="Cardiology: Common Causes of Heart Disorders - Florida Premier Cardiology  Boynton Beach, F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extLst>
            <a:ext uri="{909E8E84-426E-40DD-AFC4-6F175D3DCCD1}">
              <a14:hiddenFill xmlns:a14="http://schemas.microsoft.com/office/drawing/2010/main">
                <a:solidFill>
                  <a:srgbClr val="FFFFFF"/>
                </a:solidFill>
              </a14:hiddenFill>
            </a:ext>
          </a:extLst>
        </p:spPr>
      </p:pic>
      <p:sp>
        <p:nvSpPr>
          <p:cNvPr id="112" name="Google Shape;112;p16"/>
          <p:cNvSpPr txBox="1"/>
          <p:nvPr/>
        </p:nvSpPr>
        <p:spPr>
          <a:xfrm>
            <a:off x="6705600" y="472439"/>
            <a:ext cx="4648200" cy="1107996"/>
          </a:xfrm>
          <a:prstGeom prst="rect">
            <a:avLst/>
          </a:prstGeom>
          <a:noFill/>
          <a:ln>
            <a:noFill/>
          </a:ln>
        </p:spPr>
        <p:txBody>
          <a:bodyPr spcFirstLastPara="1" wrap="square" lIns="0" tIns="0" rIns="0" bIns="0" anchor="t" anchorCtr="0">
            <a:spAutoFit/>
          </a:bodyPr>
          <a:lstStyle/>
          <a:p>
            <a:pPr marL="0" marR="0" lvl="0" indent="0" algn="l" rtl="0">
              <a:lnSpc>
                <a:spcPct val="90125"/>
              </a:lnSpc>
              <a:spcBef>
                <a:spcPts val="0"/>
              </a:spcBef>
              <a:spcAft>
                <a:spcPts val="0"/>
              </a:spcAft>
              <a:buNone/>
            </a:pPr>
            <a:r>
              <a:rPr lang="en-US" sz="8000" b="1" dirty="0">
                <a:solidFill>
                  <a:schemeClr val="lt1"/>
                </a:solidFill>
                <a:latin typeface="MV Boli" panose="02000500030200090000" pitchFamily="2" charset="0"/>
                <a:ea typeface="Impact"/>
                <a:cs typeface="MV Boli" panose="02000500030200090000" pitchFamily="2" charset="0"/>
                <a:sym typeface="Impact"/>
              </a:rPr>
              <a:t>PROCESS</a:t>
            </a:r>
            <a:endParaRPr sz="8000" b="1" dirty="0">
              <a:solidFill>
                <a:schemeClr val="lt1"/>
              </a:solidFill>
              <a:latin typeface="MV Boli" panose="02000500030200090000" pitchFamily="2" charset="0"/>
              <a:ea typeface="Impact"/>
              <a:cs typeface="MV Boli" panose="02000500030200090000" pitchFamily="2" charset="0"/>
              <a:sym typeface="Impact"/>
            </a:endParaRPr>
          </a:p>
        </p:txBody>
      </p:sp>
      <p:sp>
        <p:nvSpPr>
          <p:cNvPr id="50" name="Rectangle 49"/>
          <p:cNvSpPr/>
          <p:nvPr/>
        </p:nvSpPr>
        <p:spPr>
          <a:xfrm>
            <a:off x="552450" y="1869996"/>
            <a:ext cx="10210800" cy="7478970"/>
          </a:xfrm>
          <a:prstGeom prst="rect">
            <a:avLst/>
          </a:prstGeom>
        </p:spPr>
        <p:txBody>
          <a:bodyPr wrap="square">
            <a:spAutoFit/>
          </a:bodyPr>
          <a:lstStyle/>
          <a:p>
            <a:pPr marL="457200" lvl="0" indent="-457200" eaLnBrk="0" fontAlgn="base" hangingPunct="0">
              <a:lnSpc>
                <a:spcPct val="150000"/>
              </a:lnSpc>
              <a:spcBef>
                <a:spcPct val="0"/>
              </a:spcBef>
              <a:spcAft>
                <a:spcPct val="0"/>
              </a:spcAft>
              <a:buClrTx/>
              <a:buFont typeface="Wingdings" panose="05000000000000000000" pitchFamily="2" charset="2"/>
              <a:buChar char="q"/>
            </a:pPr>
            <a:r>
              <a:rPr lang="en-US" altLang="en-US" sz="3200" b="1" dirty="0">
                <a:solidFill>
                  <a:schemeClr val="bg1"/>
                </a:solidFill>
                <a:latin typeface="Comic Sans MS" panose="030F0702030302020204" pitchFamily="66" charset="0"/>
              </a:rPr>
              <a:t>Load Dataset</a:t>
            </a:r>
            <a:endParaRPr lang="en-US" altLang="en-US" sz="3200" dirty="0">
              <a:solidFill>
                <a:schemeClr val="bg1"/>
              </a:solidFill>
              <a:latin typeface="Comic Sans MS" panose="030F0702030302020204" pitchFamily="66" charset="0"/>
            </a:endParaRPr>
          </a:p>
          <a:p>
            <a:pPr marL="457200" lvl="0" indent="-457200" eaLnBrk="0" fontAlgn="base" hangingPunct="0">
              <a:lnSpc>
                <a:spcPct val="150000"/>
              </a:lnSpc>
              <a:spcBef>
                <a:spcPct val="0"/>
              </a:spcBef>
              <a:spcAft>
                <a:spcPct val="0"/>
              </a:spcAft>
              <a:buClrTx/>
              <a:buFont typeface="Wingdings" panose="05000000000000000000" pitchFamily="2" charset="2"/>
              <a:buChar char="q"/>
            </a:pPr>
            <a:r>
              <a:rPr lang="en-US" altLang="en-US" sz="3200" b="1" dirty="0">
                <a:solidFill>
                  <a:schemeClr val="bg1"/>
                </a:solidFill>
                <a:latin typeface="Comic Sans MS" panose="030F0702030302020204" pitchFamily="66" charset="0"/>
              </a:rPr>
              <a:t>Import Required Libraries</a:t>
            </a:r>
            <a:endParaRPr lang="en-US" altLang="en-US" sz="3200" dirty="0">
              <a:solidFill>
                <a:schemeClr val="bg1"/>
              </a:solidFill>
              <a:latin typeface="Comic Sans MS" panose="030F0702030302020204" pitchFamily="66" charset="0"/>
            </a:endParaRPr>
          </a:p>
          <a:p>
            <a:pPr marL="457200" lvl="0" indent="-457200" eaLnBrk="0" fontAlgn="base" hangingPunct="0">
              <a:lnSpc>
                <a:spcPct val="150000"/>
              </a:lnSpc>
              <a:spcBef>
                <a:spcPct val="0"/>
              </a:spcBef>
              <a:spcAft>
                <a:spcPct val="0"/>
              </a:spcAft>
              <a:buClrTx/>
              <a:buFont typeface="Wingdings" panose="05000000000000000000" pitchFamily="2" charset="2"/>
              <a:buChar char="q"/>
            </a:pPr>
            <a:r>
              <a:rPr lang="en-US" altLang="en-US" sz="3200" b="1" dirty="0">
                <a:solidFill>
                  <a:schemeClr val="bg1"/>
                </a:solidFill>
                <a:latin typeface="Comic Sans MS" panose="030F0702030302020204" pitchFamily="66" charset="0"/>
              </a:rPr>
              <a:t>Data Cleaning &amp; Preprocessing</a:t>
            </a:r>
            <a:endParaRPr lang="en-US" altLang="en-US" sz="3200" dirty="0">
              <a:solidFill>
                <a:schemeClr val="bg1"/>
              </a:solidFill>
              <a:latin typeface="Comic Sans MS" panose="030F0702030302020204" pitchFamily="66" charset="0"/>
            </a:endParaRPr>
          </a:p>
          <a:p>
            <a:pPr marL="457200" lvl="0" indent="-457200" eaLnBrk="0" fontAlgn="base" hangingPunct="0">
              <a:lnSpc>
                <a:spcPct val="150000"/>
              </a:lnSpc>
              <a:spcBef>
                <a:spcPct val="0"/>
              </a:spcBef>
              <a:spcAft>
                <a:spcPct val="0"/>
              </a:spcAft>
              <a:buClrTx/>
              <a:buFont typeface="Wingdings" panose="05000000000000000000" pitchFamily="2" charset="2"/>
              <a:buChar char="q"/>
            </a:pPr>
            <a:r>
              <a:rPr lang="en-US" altLang="en-US" sz="3200" b="1" dirty="0">
                <a:solidFill>
                  <a:schemeClr val="bg1"/>
                </a:solidFill>
                <a:latin typeface="Comic Sans MS" panose="030F0702030302020204" pitchFamily="66" charset="0"/>
              </a:rPr>
              <a:t>Exploratory Data Analysis (EDA)</a:t>
            </a:r>
            <a:endParaRPr lang="en-US" altLang="en-US" sz="3200" dirty="0">
              <a:solidFill>
                <a:schemeClr val="bg1"/>
              </a:solidFill>
              <a:latin typeface="Comic Sans MS" panose="030F0702030302020204" pitchFamily="66" charset="0"/>
            </a:endParaRPr>
          </a:p>
          <a:p>
            <a:pPr marL="457200" lvl="0" indent="-457200" eaLnBrk="0" fontAlgn="base" hangingPunct="0">
              <a:lnSpc>
                <a:spcPct val="150000"/>
              </a:lnSpc>
              <a:spcBef>
                <a:spcPct val="0"/>
              </a:spcBef>
              <a:spcAft>
                <a:spcPct val="0"/>
              </a:spcAft>
              <a:buClrTx/>
              <a:buFont typeface="Wingdings" panose="05000000000000000000" pitchFamily="2" charset="2"/>
              <a:buChar char="q"/>
            </a:pPr>
            <a:r>
              <a:rPr lang="en-US" altLang="en-US" sz="3200" b="1" dirty="0" smtClean="0">
                <a:solidFill>
                  <a:schemeClr val="bg1"/>
                </a:solidFill>
                <a:latin typeface="Comic Sans MS" panose="030F0702030302020204" pitchFamily="66" charset="0"/>
              </a:rPr>
              <a:t>Feature Scaling</a:t>
            </a:r>
            <a:endParaRPr lang="en-US" altLang="en-US" sz="3200" dirty="0" smtClean="0">
              <a:solidFill>
                <a:schemeClr val="bg1"/>
              </a:solidFill>
              <a:latin typeface="Comic Sans MS" panose="030F0702030302020204" pitchFamily="66" charset="0"/>
            </a:endParaRPr>
          </a:p>
          <a:p>
            <a:pPr marL="457200" lvl="0" indent="-457200" eaLnBrk="0" fontAlgn="base" hangingPunct="0">
              <a:lnSpc>
                <a:spcPct val="150000"/>
              </a:lnSpc>
              <a:spcBef>
                <a:spcPct val="0"/>
              </a:spcBef>
              <a:spcAft>
                <a:spcPct val="0"/>
              </a:spcAft>
              <a:buClrTx/>
              <a:buFont typeface="Wingdings" panose="05000000000000000000" pitchFamily="2" charset="2"/>
              <a:buChar char="q"/>
            </a:pPr>
            <a:r>
              <a:rPr lang="en-US" altLang="en-US" sz="3200" b="1" dirty="0" smtClean="0">
                <a:solidFill>
                  <a:schemeClr val="bg1"/>
                </a:solidFill>
                <a:latin typeface="Comic Sans MS" panose="030F0702030302020204" pitchFamily="66" charset="0"/>
              </a:rPr>
              <a:t>Train–Test Split</a:t>
            </a:r>
            <a:endParaRPr lang="en-US" altLang="en-US" sz="3200" dirty="0" smtClean="0">
              <a:solidFill>
                <a:schemeClr val="bg1"/>
              </a:solidFill>
              <a:latin typeface="Comic Sans MS" panose="030F0702030302020204" pitchFamily="66" charset="0"/>
            </a:endParaRPr>
          </a:p>
          <a:p>
            <a:pPr marL="457200" lvl="0" indent="-457200" eaLnBrk="0" fontAlgn="base" hangingPunct="0">
              <a:lnSpc>
                <a:spcPct val="150000"/>
              </a:lnSpc>
              <a:spcBef>
                <a:spcPct val="0"/>
              </a:spcBef>
              <a:spcAft>
                <a:spcPct val="0"/>
              </a:spcAft>
              <a:buClrTx/>
              <a:buFont typeface="Wingdings" panose="05000000000000000000" pitchFamily="2" charset="2"/>
              <a:buChar char="q"/>
            </a:pPr>
            <a:r>
              <a:rPr lang="en-US" altLang="en-US" sz="3200" b="1" dirty="0" smtClean="0">
                <a:solidFill>
                  <a:schemeClr val="bg1"/>
                </a:solidFill>
                <a:latin typeface="Comic Sans MS" panose="030F0702030302020204" pitchFamily="66" charset="0"/>
              </a:rPr>
              <a:t>Apply </a:t>
            </a:r>
            <a:r>
              <a:rPr lang="en-US" altLang="en-US" sz="3200" b="1" dirty="0">
                <a:solidFill>
                  <a:schemeClr val="bg1"/>
                </a:solidFill>
                <a:latin typeface="Comic Sans MS" panose="030F0702030302020204" pitchFamily="66" charset="0"/>
              </a:rPr>
              <a:t>Multiple Classification Algorithms</a:t>
            </a:r>
            <a:endParaRPr lang="en-US" altLang="en-US" sz="3200" dirty="0">
              <a:solidFill>
                <a:schemeClr val="bg1"/>
              </a:solidFill>
              <a:latin typeface="Comic Sans MS" panose="030F0702030302020204" pitchFamily="66" charset="0"/>
            </a:endParaRPr>
          </a:p>
          <a:p>
            <a:pPr marL="457200" lvl="0" indent="-457200" eaLnBrk="0" fontAlgn="base" hangingPunct="0">
              <a:lnSpc>
                <a:spcPct val="150000"/>
              </a:lnSpc>
              <a:spcBef>
                <a:spcPct val="0"/>
              </a:spcBef>
              <a:spcAft>
                <a:spcPct val="0"/>
              </a:spcAft>
              <a:buClrTx/>
              <a:buFont typeface="Wingdings" panose="05000000000000000000" pitchFamily="2" charset="2"/>
              <a:buChar char="q"/>
            </a:pPr>
            <a:r>
              <a:rPr lang="en-US" altLang="en-US" sz="3200" b="1" dirty="0">
                <a:solidFill>
                  <a:schemeClr val="bg1"/>
                </a:solidFill>
                <a:latin typeface="Comic Sans MS" panose="030F0702030302020204" pitchFamily="66" charset="0"/>
              </a:rPr>
              <a:t>Model Evaluation using Accuracy, F1, AUC</a:t>
            </a:r>
            <a:endParaRPr lang="en-US" altLang="en-US" sz="3200" dirty="0">
              <a:solidFill>
                <a:schemeClr val="bg1"/>
              </a:solidFill>
              <a:latin typeface="Comic Sans MS" panose="030F0702030302020204" pitchFamily="66" charset="0"/>
            </a:endParaRPr>
          </a:p>
          <a:p>
            <a:pPr marL="457200" lvl="0" indent="-457200" eaLnBrk="0" fontAlgn="base" hangingPunct="0">
              <a:lnSpc>
                <a:spcPct val="150000"/>
              </a:lnSpc>
              <a:spcBef>
                <a:spcPct val="0"/>
              </a:spcBef>
              <a:spcAft>
                <a:spcPct val="0"/>
              </a:spcAft>
              <a:buClrTx/>
              <a:buFont typeface="Wingdings" panose="05000000000000000000" pitchFamily="2" charset="2"/>
              <a:buChar char="q"/>
            </a:pPr>
            <a:r>
              <a:rPr lang="en-US" altLang="en-US" sz="3200" b="1" dirty="0">
                <a:solidFill>
                  <a:schemeClr val="bg1"/>
                </a:solidFill>
                <a:latin typeface="Comic Sans MS" panose="030F0702030302020204" pitchFamily="66" charset="0"/>
              </a:rPr>
              <a:t>Select Best Model</a:t>
            </a:r>
            <a:endParaRPr lang="en-US" altLang="en-US" sz="3200" dirty="0">
              <a:solidFill>
                <a:schemeClr val="bg1"/>
              </a:solidFill>
              <a:latin typeface="Comic Sans MS" panose="030F0702030302020204" pitchFamily="66" charset="0"/>
            </a:endParaRPr>
          </a:p>
          <a:p>
            <a:pPr marL="457200" lvl="0" indent="-457200" eaLnBrk="0" fontAlgn="base" hangingPunct="0">
              <a:lnSpc>
                <a:spcPct val="150000"/>
              </a:lnSpc>
              <a:spcBef>
                <a:spcPct val="0"/>
              </a:spcBef>
              <a:spcAft>
                <a:spcPct val="0"/>
              </a:spcAft>
              <a:buClrTx/>
              <a:buFont typeface="Wingdings" panose="05000000000000000000" pitchFamily="2" charset="2"/>
              <a:buChar char="q"/>
            </a:pPr>
            <a:r>
              <a:rPr lang="en-US" altLang="en-US" sz="3200" b="1" dirty="0">
                <a:solidFill>
                  <a:schemeClr val="bg1"/>
                </a:solidFill>
                <a:latin typeface="Comic Sans MS" panose="030F0702030302020204" pitchFamily="66" charset="0"/>
              </a:rPr>
              <a:t>Make </a:t>
            </a:r>
            <a:r>
              <a:rPr lang="en-US" altLang="en-US" sz="3200" b="1" dirty="0" smtClean="0">
                <a:solidFill>
                  <a:schemeClr val="bg1"/>
                </a:solidFill>
                <a:latin typeface="Comic Sans MS" panose="030F0702030302020204" pitchFamily="66" charset="0"/>
              </a:rPr>
              <a:t>Predictions</a:t>
            </a:r>
            <a:endParaRPr lang="en-US" altLang="en-US" sz="3200" dirty="0">
              <a:solidFill>
                <a:schemeClr val="bg1"/>
              </a:solidFill>
              <a:latin typeface="Comic Sans MS" panose="030F0702030302020204" pitchFamily="66" charset="0"/>
            </a:endParaRPr>
          </a:p>
        </p:txBody>
      </p:sp>
      <p:pic>
        <p:nvPicPr>
          <p:cNvPr id="1027" name="Picture 3" descr="162,800+ Human Heart Stock Photos, Pictures &amp; Royalty-Free Images - iStock  | Human heart illustration, Human heart icon, Human heart vect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49000" y="2133600"/>
            <a:ext cx="6297438" cy="710106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2"/>
                                        </p:tgtEl>
                                        <p:attrNameLst>
                                          <p:attrName>style.visibility</p:attrName>
                                        </p:attrNameLst>
                                      </p:cBhvr>
                                      <p:to>
                                        <p:strVal val="visible"/>
                                      </p:to>
                                    </p:set>
                                    <p:anim calcmode="lin" valueType="num">
                                      <p:cBhvr additive="base">
                                        <p:cTn id="7" dur="500"/>
                                        <p:tgtEl>
                                          <p:spTgt spid="1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pic>
        <p:nvPicPr>
          <p:cNvPr id="16" name="Picture 4" descr="Cardiology: Common Causes of Heart Disorders - Florida Premier Cardiology  Boynton Beach, F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extLst>
            <a:ext uri="{909E8E84-426E-40DD-AFC4-6F175D3DCCD1}">
              <a14:hiddenFill xmlns:a14="http://schemas.microsoft.com/office/drawing/2010/main">
                <a:solidFill>
                  <a:srgbClr val="FFFFFF"/>
                </a:solidFill>
              </a14:hiddenFill>
            </a:ext>
          </a:extLst>
        </p:spPr>
      </p:pic>
      <p:sp>
        <p:nvSpPr>
          <p:cNvPr id="163" name="Google Shape;163;p17"/>
          <p:cNvSpPr txBox="1"/>
          <p:nvPr/>
        </p:nvSpPr>
        <p:spPr>
          <a:xfrm>
            <a:off x="6273499" y="724509"/>
            <a:ext cx="6122004" cy="1107996"/>
          </a:xfrm>
          <a:prstGeom prst="rect">
            <a:avLst/>
          </a:prstGeom>
          <a:noFill/>
          <a:ln>
            <a:noFill/>
          </a:ln>
        </p:spPr>
        <p:txBody>
          <a:bodyPr spcFirstLastPara="1" wrap="square" lIns="0" tIns="0" rIns="0" bIns="0" anchor="t" anchorCtr="0">
            <a:spAutoFit/>
          </a:bodyPr>
          <a:lstStyle/>
          <a:p>
            <a:pPr marL="0" marR="0" lvl="0" indent="0" algn="l" rtl="0">
              <a:lnSpc>
                <a:spcPct val="90125"/>
              </a:lnSpc>
              <a:spcBef>
                <a:spcPts val="0"/>
              </a:spcBef>
              <a:spcAft>
                <a:spcPts val="0"/>
              </a:spcAft>
              <a:buNone/>
            </a:pPr>
            <a:r>
              <a:rPr lang="en-US" sz="8000" dirty="0">
                <a:solidFill>
                  <a:schemeClr val="lt1"/>
                </a:solidFill>
                <a:latin typeface="MV Boli" panose="02000500030200090000" pitchFamily="2" charset="0"/>
                <a:ea typeface="Impact"/>
                <a:cs typeface="MV Boli" panose="02000500030200090000" pitchFamily="2" charset="0"/>
                <a:sym typeface="Impact"/>
              </a:rPr>
              <a:t>ENCODING</a:t>
            </a:r>
            <a:endParaRPr sz="8000" dirty="0">
              <a:solidFill>
                <a:schemeClr val="lt1"/>
              </a:solidFill>
              <a:latin typeface="MV Boli" panose="02000500030200090000" pitchFamily="2" charset="0"/>
              <a:ea typeface="Impact"/>
              <a:cs typeface="MV Boli" panose="02000500030200090000" pitchFamily="2" charset="0"/>
              <a:sym typeface="Impact"/>
            </a:endParaRPr>
          </a:p>
        </p:txBody>
      </p:sp>
      <p:sp>
        <p:nvSpPr>
          <p:cNvPr id="164" name="Google Shape;164;p17"/>
          <p:cNvSpPr/>
          <p:nvPr/>
        </p:nvSpPr>
        <p:spPr>
          <a:xfrm>
            <a:off x="723900" y="1573543"/>
            <a:ext cx="7962900" cy="4647945"/>
          </a:xfrm>
          <a:prstGeom prst="rect">
            <a:avLst/>
          </a:prstGeom>
          <a:noFill/>
          <a:ln>
            <a:noFill/>
          </a:ln>
        </p:spPr>
        <p:txBody>
          <a:bodyPr spcFirstLastPara="1" wrap="square" lIns="91425" tIns="45700" rIns="91425" bIns="45700" anchor="ctr" anchorCtr="0">
            <a:noAutofit/>
          </a:bodyPr>
          <a:lstStyle/>
          <a:p>
            <a:pPr algn="just">
              <a:lnSpc>
                <a:spcPct val="150000"/>
              </a:lnSpc>
            </a:pPr>
            <a:r>
              <a:rPr lang="en-GB" sz="3200" b="1" dirty="0">
                <a:solidFill>
                  <a:schemeClr val="bg1"/>
                </a:solidFill>
                <a:latin typeface="Comic Sans MS" panose="030F0702030302020204" pitchFamily="66" charset="0"/>
              </a:rPr>
              <a:t>1. Label </a:t>
            </a:r>
            <a:r>
              <a:rPr lang="en-GB" sz="3200" b="1" dirty="0" smtClean="0">
                <a:solidFill>
                  <a:schemeClr val="bg1"/>
                </a:solidFill>
                <a:latin typeface="Comic Sans MS" panose="030F0702030302020204" pitchFamily="66" charset="0"/>
              </a:rPr>
              <a:t>Encoding :Used </a:t>
            </a:r>
            <a:r>
              <a:rPr lang="en-GB" sz="3200" b="1" dirty="0">
                <a:solidFill>
                  <a:schemeClr val="bg1"/>
                </a:solidFill>
                <a:latin typeface="Comic Sans MS" panose="030F0702030302020204" pitchFamily="66" charset="0"/>
              </a:rPr>
              <a:t>for ordered or non-text categorical fields such as:</a:t>
            </a:r>
          </a:p>
          <a:p>
            <a:pPr algn="just">
              <a:lnSpc>
                <a:spcPct val="150000"/>
              </a:lnSpc>
            </a:pPr>
            <a:r>
              <a:rPr lang="en-GB" sz="3200" b="1" dirty="0" smtClean="0">
                <a:solidFill>
                  <a:schemeClr val="bg1"/>
                </a:solidFill>
                <a:latin typeface="Comic Sans MS" panose="030F0702030302020204" pitchFamily="66" charset="0"/>
              </a:rPr>
              <a:t>(</a:t>
            </a:r>
            <a:r>
              <a:rPr lang="en-GB" sz="3200" b="1" dirty="0" err="1" smtClean="0">
                <a:solidFill>
                  <a:schemeClr val="bg1"/>
                </a:solidFill>
                <a:latin typeface="Comic Sans MS" panose="030F0702030302020204" pitchFamily="66" charset="0"/>
              </a:rPr>
              <a:t>i</a:t>
            </a:r>
            <a:r>
              <a:rPr lang="en-GB" sz="3200" b="1" dirty="0" smtClean="0">
                <a:solidFill>
                  <a:schemeClr val="bg1"/>
                </a:solidFill>
                <a:latin typeface="Comic Sans MS" panose="030F0702030302020204" pitchFamily="66" charset="0"/>
              </a:rPr>
              <a:t>) Sex</a:t>
            </a:r>
            <a:endParaRPr lang="en-GB" sz="3200" b="1" dirty="0">
              <a:solidFill>
                <a:schemeClr val="bg1"/>
              </a:solidFill>
              <a:latin typeface="Comic Sans MS" panose="030F0702030302020204" pitchFamily="66" charset="0"/>
            </a:endParaRPr>
          </a:p>
          <a:p>
            <a:pPr algn="just">
              <a:lnSpc>
                <a:spcPct val="150000"/>
              </a:lnSpc>
            </a:pPr>
            <a:r>
              <a:rPr lang="en-GB" sz="3200" b="1" dirty="0" smtClean="0">
                <a:solidFill>
                  <a:schemeClr val="bg1"/>
                </a:solidFill>
                <a:latin typeface="Comic Sans MS" panose="030F0702030302020204" pitchFamily="66" charset="0"/>
              </a:rPr>
              <a:t>(ii) Chest </a:t>
            </a:r>
            <a:r>
              <a:rPr lang="en-GB" sz="3200" b="1" dirty="0">
                <a:solidFill>
                  <a:schemeClr val="bg1"/>
                </a:solidFill>
                <a:latin typeface="Comic Sans MS" panose="030F0702030302020204" pitchFamily="66" charset="0"/>
              </a:rPr>
              <a:t>Pain Type (</a:t>
            </a:r>
            <a:r>
              <a:rPr lang="en-GB" sz="3200" b="1" dirty="0" err="1">
                <a:solidFill>
                  <a:schemeClr val="bg1"/>
                </a:solidFill>
                <a:latin typeface="Comic Sans MS" panose="030F0702030302020204" pitchFamily="66" charset="0"/>
              </a:rPr>
              <a:t>cp</a:t>
            </a:r>
            <a:r>
              <a:rPr lang="en-GB" sz="3200" b="1" dirty="0">
                <a:solidFill>
                  <a:schemeClr val="bg1"/>
                </a:solidFill>
                <a:latin typeface="Comic Sans MS" panose="030F0702030302020204" pitchFamily="66" charset="0"/>
              </a:rPr>
              <a:t>)</a:t>
            </a:r>
          </a:p>
          <a:p>
            <a:pPr algn="just">
              <a:lnSpc>
                <a:spcPct val="150000"/>
              </a:lnSpc>
            </a:pPr>
            <a:r>
              <a:rPr lang="en-GB" sz="3200" b="1" dirty="0" smtClean="0">
                <a:solidFill>
                  <a:schemeClr val="bg1"/>
                </a:solidFill>
                <a:latin typeface="Comic Sans MS" panose="030F0702030302020204" pitchFamily="66" charset="0"/>
              </a:rPr>
              <a:t>(iii) Thalassemia </a:t>
            </a:r>
            <a:r>
              <a:rPr lang="en-GB" sz="3200" b="1" dirty="0">
                <a:solidFill>
                  <a:schemeClr val="bg1"/>
                </a:solidFill>
                <a:latin typeface="Comic Sans MS" panose="030F0702030302020204" pitchFamily="66" charset="0"/>
              </a:rPr>
              <a:t>(</a:t>
            </a:r>
            <a:r>
              <a:rPr lang="en-GB" sz="3200" b="1" dirty="0" err="1">
                <a:solidFill>
                  <a:schemeClr val="bg1"/>
                </a:solidFill>
                <a:latin typeface="Comic Sans MS" panose="030F0702030302020204" pitchFamily="66" charset="0"/>
              </a:rPr>
              <a:t>thal</a:t>
            </a:r>
            <a:r>
              <a:rPr lang="en-GB" sz="3200" b="1" dirty="0">
                <a:solidFill>
                  <a:schemeClr val="bg1"/>
                </a:solidFill>
                <a:latin typeface="Comic Sans MS" panose="030F0702030302020204" pitchFamily="66" charset="0"/>
              </a:rPr>
              <a:t>)</a:t>
            </a:r>
          </a:p>
        </p:txBody>
      </p:sp>
      <p:pic>
        <p:nvPicPr>
          <p:cNvPr id="2" name="Picture 1"/>
          <p:cNvPicPr>
            <a:picLocks noChangeAspect="1"/>
          </p:cNvPicPr>
          <p:nvPr/>
        </p:nvPicPr>
        <p:blipFill>
          <a:blip r:embed="rId4"/>
          <a:stretch>
            <a:fillRect/>
          </a:stretch>
        </p:blipFill>
        <p:spPr>
          <a:xfrm>
            <a:off x="707043" y="6087605"/>
            <a:ext cx="7910891" cy="1965833"/>
          </a:xfrm>
          <a:prstGeom prst="rect">
            <a:avLst/>
          </a:prstGeom>
        </p:spPr>
      </p:pic>
      <p:pic>
        <p:nvPicPr>
          <p:cNvPr id="3" name="Picture 2"/>
          <p:cNvPicPr>
            <a:picLocks noChangeAspect="1"/>
          </p:cNvPicPr>
          <p:nvPr/>
        </p:nvPicPr>
        <p:blipFill>
          <a:blip r:embed="rId5"/>
          <a:stretch>
            <a:fillRect/>
          </a:stretch>
        </p:blipFill>
        <p:spPr>
          <a:xfrm>
            <a:off x="9427533" y="7547073"/>
            <a:ext cx="7848650" cy="1012729"/>
          </a:xfrm>
          <a:prstGeom prst="rect">
            <a:avLst/>
          </a:prstGeom>
        </p:spPr>
      </p:pic>
      <p:sp>
        <p:nvSpPr>
          <p:cNvPr id="23" name="Google Shape;164;p17"/>
          <p:cNvSpPr/>
          <p:nvPr/>
        </p:nvSpPr>
        <p:spPr>
          <a:xfrm>
            <a:off x="9324976" y="2640343"/>
            <a:ext cx="8296274" cy="4647945"/>
          </a:xfrm>
          <a:prstGeom prst="rect">
            <a:avLst/>
          </a:prstGeom>
          <a:noFill/>
          <a:ln>
            <a:noFill/>
          </a:ln>
        </p:spPr>
        <p:txBody>
          <a:bodyPr spcFirstLastPara="1" wrap="square" lIns="91425" tIns="45700" rIns="91425" bIns="45700" anchor="ctr" anchorCtr="0">
            <a:noAutofit/>
          </a:bodyPr>
          <a:lstStyle/>
          <a:p>
            <a:pPr algn="just">
              <a:lnSpc>
                <a:spcPct val="150000"/>
              </a:lnSpc>
            </a:pPr>
            <a:r>
              <a:rPr lang="en-GB" sz="3200" b="1" dirty="0">
                <a:solidFill>
                  <a:schemeClr val="bg1"/>
                </a:solidFill>
                <a:latin typeface="Comic Sans MS" panose="030F0702030302020204" pitchFamily="66" charset="0"/>
              </a:rPr>
              <a:t>2. One-Hot </a:t>
            </a:r>
            <a:r>
              <a:rPr lang="en-GB" sz="3200" b="1" dirty="0" smtClean="0">
                <a:solidFill>
                  <a:schemeClr val="bg1"/>
                </a:solidFill>
                <a:latin typeface="Comic Sans MS" panose="030F0702030302020204" pitchFamily="66" charset="0"/>
              </a:rPr>
              <a:t>Encoding : </a:t>
            </a:r>
            <a:r>
              <a:rPr lang="en-GB" sz="3200" dirty="0" smtClean="0">
                <a:solidFill>
                  <a:schemeClr val="bg1"/>
                </a:solidFill>
                <a:latin typeface="Comic Sans MS" panose="030F0702030302020204" pitchFamily="66" charset="0"/>
              </a:rPr>
              <a:t>Used </a:t>
            </a:r>
            <a:r>
              <a:rPr lang="en-GB" sz="3200" dirty="0">
                <a:solidFill>
                  <a:schemeClr val="bg1"/>
                </a:solidFill>
                <a:latin typeface="Comic Sans MS" panose="030F0702030302020204" pitchFamily="66" charset="0"/>
              </a:rPr>
              <a:t>for non-ordinal categories where each category should become a separate column.</a:t>
            </a:r>
          </a:p>
          <a:p>
            <a:pPr algn="just">
              <a:lnSpc>
                <a:spcPct val="150000"/>
              </a:lnSpc>
            </a:pPr>
            <a:r>
              <a:rPr lang="en-GB" sz="3200" dirty="0" smtClean="0">
                <a:solidFill>
                  <a:schemeClr val="bg1"/>
                </a:solidFill>
                <a:latin typeface="Comic Sans MS" panose="030F0702030302020204" pitchFamily="66" charset="0"/>
              </a:rPr>
              <a:t>(</a:t>
            </a:r>
            <a:r>
              <a:rPr lang="en-GB" sz="3200" dirty="0" err="1" smtClean="0">
                <a:solidFill>
                  <a:schemeClr val="bg1"/>
                </a:solidFill>
                <a:latin typeface="Comic Sans MS" panose="030F0702030302020204" pitchFamily="66" charset="0"/>
              </a:rPr>
              <a:t>i</a:t>
            </a:r>
            <a:r>
              <a:rPr lang="en-GB" sz="3200" dirty="0" smtClean="0">
                <a:solidFill>
                  <a:schemeClr val="bg1"/>
                </a:solidFill>
                <a:latin typeface="Comic Sans MS" panose="030F0702030302020204" pitchFamily="66" charset="0"/>
              </a:rPr>
              <a:t>) Chest </a:t>
            </a:r>
            <a:r>
              <a:rPr lang="en-GB" sz="3200" dirty="0">
                <a:solidFill>
                  <a:schemeClr val="bg1"/>
                </a:solidFill>
                <a:latin typeface="Comic Sans MS" panose="030F0702030302020204" pitchFamily="66" charset="0"/>
              </a:rPr>
              <a:t>Pain Type </a:t>
            </a:r>
            <a:endParaRPr lang="en-GB" sz="3200" dirty="0" smtClean="0">
              <a:solidFill>
                <a:schemeClr val="bg1"/>
              </a:solidFill>
              <a:latin typeface="Comic Sans MS" panose="030F0702030302020204" pitchFamily="66" charset="0"/>
            </a:endParaRPr>
          </a:p>
          <a:p>
            <a:pPr algn="just">
              <a:lnSpc>
                <a:spcPct val="150000"/>
              </a:lnSpc>
            </a:pPr>
            <a:r>
              <a:rPr lang="en-GB" sz="3200" dirty="0" smtClean="0">
                <a:solidFill>
                  <a:schemeClr val="bg1"/>
                </a:solidFill>
                <a:latin typeface="Comic Sans MS" panose="030F0702030302020204" pitchFamily="66" charset="0"/>
              </a:rPr>
              <a:t>(ii) Thalassemia </a:t>
            </a:r>
            <a:r>
              <a:rPr lang="en-GB" sz="3200" dirty="0">
                <a:solidFill>
                  <a:schemeClr val="bg1"/>
                </a:solidFill>
                <a:latin typeface="Comic Sans MS" panose="030F0702030302020204" pitchFamily="66" charset="0"/>
              </a:rPr>
              <a:t>types</a:t>
            </a:r>
          </a:p>
          <a:p>
            <a:pPr algn="just">
              <a:lnSpc>
                <a:spcPct val="150000"/>
              </a:lnSpc>
            </a:pPr>
            <a:r>
              <a:rPr lang="en-GB" sz="3200" dirty="0" smtClean="0">
                <a:solidFill>
                  <a:schemeClr val="bg1"/>
                </a:solidFill>
                <a:latin typeface="Comic Sans MS" panose="030F0702030302020204" pitchFamily="66" charset="0"/>
              </a:rPr>
              <a:t>(iii) Slope </a:t>
            </a:r>
            <a:r>
              <a:rPr lang="en-GB" sz="3200" dirty="0">
                <a:solidFill>
                  <a:schemeClr val="bg1"/>
                </a:solidFill>
                <a:latin typeface="Comic Sans MS" panose="030F0702030302020204" pitchFamily="66" charset="0"/>
              </a:rPr>
              <a:t>of ST segment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3"/>
                                        </p:tgtEl>
                                        <p:attrNameLst>
                                          <p:attrName>style.visibility</p:attrName>
                                        </p:attrNameLst>
                                      </p:cBhvr>
                                      <p:to>
                                        <p:strVal val="visible"/>
                                      </p:to>
                                    </p:set>
                                    <p:anim calcmode="lin" valueType="num">
                                      <p:cBhvr additive="base">
                                        <p:cTn id="7" dur="500"/>
                                        <p:tgtEl>
                                          <p:spTgt spid="163"/>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64"/>
                                        </p:tgtEl>
                                        <p:attrNameLst>
                                          <p:attrName>style.visibility</p:attrName>
                                        </p:attrNameLst>
                                      </p:cBhvr>
                                      <p:to>
                                        <p:strVal val="visible"/>
                                      </p:to>
                                    </p:set>
                                    <p:anim calcmode="lin" valueType="num">
                                      <p:cBhvr additive="base">
                                        <p:cTn id="12" dur="500"/>
                                        <p:tgtEl>
                                          <p:spTgt spid="164"/>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500"/>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pic>
        <p:nvPicPr>
          <p:cNvPr id="22" name="Picture 4" descr="Cardiology: Common Causes of Heart Disorders - Florida Premier Cardiology  Boynton Beach, F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extLst>
            <a:ext uri="{909E8E84-426E-40DD-AFC4-6F175D3DCCD1}">
              <a14:hiddenFill xmlns:a14="http://schemas.microsoft.com/office/drawing/2010/main">
                <a:solidFill>
                  <a:srgbClr val="FFFFFF"/>
                </a:solidFill>
              </a14:hiddenFill>
            </a:ext>
          </a:extLst>
        </p:spPr>
      </p:pic>
      <p:sp>
        <p:nvSpPr>
          <p:cNvPr id="181" name="Google Shape;181;p18"/>
          <p:cNvSpPr txBox="1"/>
          <p:nvPr/>
        </p:nvSpPr>
        <p:spPr>
          <a:xfrm>
            <a:off x="2743200" y="740628"/>
            <a:ext cx="13811250" cy="1107996"/>
          </a:xfrm>
          <a:prstGeom prst="rect">
            <a:avLst/>
          </a:prstGeom>
          <a:noFill/>
          <a:ln>
            <a:noFill/>
          </a:ln>
        </p:spPr>
        <p:txBody>
          <a:bodyPr spcFirstLastPara="1" wrap="square" lIns="0" tIns="0" rIns="0" bIns="0" anchor="t" anchorCtr="0">
            <a:spAutoFit/>
          </a:bodyPr>
          <a:lstStyle/>
          <a:p>
            <a:pPr marL="0" marR="0" lvl="0" indent="0" algn="l" rtl="0">
              <a:lnSpc>
                <a:spcPct val="90125"/>
              </a:lnSpc>
              <a:spcBef>
                <a:spcPts val="0"/>
              </a:spcBef>
              <a:spcAft>
                <a:spcPts val="0"/>
              </a:spcAft>
              <a:buNone/>
            </a:pPr>
            <a:r>
              <a:rPr lang="en-US" sz="8000" b="1" dirty="0">
                <a:solidFill>
                  <a:schemeClr val="lt1"/>
                </a:solidFill>
                <a:latin typeface="MV Boli" panose="02000500030200090000" pitchFamily="2" charset="0"/>
                <a:ea typeface="Impact"/>
                <a:cs typeface="MV Boli" panose="02000500030200090000" pitchFamily="2" charset="0"/>
                <a:sym typeface="Impact"/>
              </a:rPr>
              <a:t>CLASSIFICATION MODELS</a:t>
            </a:r>
            <a:endParaRPr sz="8000" b="1" dirty="0">
              <a:solidFill>
                <a:schemeClr val="lt1"/>
              </a:solidFill>
              <a:latin typeface="MV Boli" panose="02000500030200090000" pitchFamily="2" charset="0"/>
              <a:ea typeface="Impact"/>
              <a:cs typeface="MV Boli" panose="02000500030200090000" pitchFamily="2" charset="0"/>
              <a:sym typeface="Impact"/>
            </a:endParaRPr>
          </a:p>
        </p:txBody>
      </p:sp>
      <p:grpSp>
        <p:nvGrpSpPr>
          <p:cNvPr id="4" name="Group 3"/>
          <p:cNvGrpSpPr/>
          <p:nvPr/>
        </p:nvGrpSpPr>
        <p:grpSpPr>
          <a:xfrm>
            <a:off x="533401" y="2249448"/>
            <a:ext cx="17164049" cy="6219170"/>
            <a:chOff x="533401" y="2249448"/>
            <a:chExt cx="17164049" cy="6219170"/>
          </a:xfrm>
        </p:grpSpPr>
        <p:grpSp>
          <p:nvGrpSpPr>
            <p:cNvPr id="2" name="Group 1"/>
            <p:cNvGrpSpPr/>
            <p:nvPr/>
          </p:nvGrpSpPr>
          <p:grpSpPr>
            <a:xfrm>
              <a:off x="533401" y="2249448"/>
              <a:ext cx="8381999" cy="6219170"/>
              <a:chOff x="533401" y="2249448"/>
              <a:chExt cx="8381999" cy="6219170"/>
            </a:xfrm>
          </p:grpSpPr>
          <p:sp>
            <p:nvSpPr>
              <p:cNvPr id="182" name="Google Shape;182;p18"/>
              <p:cNvSpPr/>
              <p:nvPr/>
            </p:nvSpPr>
            <p:spPr>
              <a:xfrm>
                <a:off x="1076325" y="2249448"/>
                <a:ext cx="7296149" cy="707886"/>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4000" b="1" dirty="0">
                    <a:solidFill>
                      <a:schemeClr val="lt1"/>
                    </a:solidFill>
                    <a:latin typeface="Comic Sans MS" panose="030F0702030302020204" pitchFamily="66" charset="0"/>
                    <a:ea typeface="Times New Roman"/>
                    <a:cs typeface="Times New Roman"/>
                    <a:sym typeface="Times New Roman"/>
                  </a:rPr>
                  <a:t>1. LOGISTIC REGRESSION </a:t>
                </a:r>
                <a:endParaRPr sz="4000" b="1" i="0" u="none" strike="noStrike" cap="none" dirty="0">
                  <a:solidFill>
                    <a:schemeClr val="lt1"/>
                  </a:solidFill>
                  <a:latin typeface="Comic Sans MS" panose="030F0702030302020204" pitchFamily="66" charset="0"/>
                  <a:ea typeface="Times New Roman"/>
                  <a:cs typeface="Times New Roman"/>
                  <a:sym typeface="Times New Roman"/>
                </a:endParaRPr>
              </a:p>
            </p:txBody>
          </p:sp>
          <p:sp>
            <p:nvSpPr>
              <p:cNvPr id="183" name="Google Shape;183;p18"/>
              <p:cNvSpPr/>
              <p:nvPr/>
            </p:nvSpPr>
            <p:spPr>
              <a:xfrm>
                <a:off x="533401" y="2911614"/>
                <a:ext cx="8381999" cy="2862322"/>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3600" b="0" i="0" u="none" strike="noStrike" cap="none" dirty="0">
                  <a:solidFill>
                    <a:schemeClr val="lt1"/>
                  </a:solidFill>
                  <a:latin typeface="Times New Roman"/>
                  <a:ea typeface="Times New Roman"/>
                  <a:cs typeface="Times New Roman"/>
                  <a:sym typeface="Times New Roman"/>
                </a:endParaRPr>
              </a:p>
            </p:txBody>
          </p:sp>
          <p:pic>
            <p:nvPicPr>
              <p:cNvPr id="184" name="Google Shape;184;p18"/>
              <p:cNvPicPr preferRelativeResize="0"/>
              <p:nvPr/>
            </p:nvPicPr>
            <p:blipFill rotWithShape="1">
              <a:blip r:embed="rId4">
                <a:alphaModFix/>
              </a:blip>
              <a:srcRect/>
              <a:stretch/>
            </p:blipFill>
            <p:spPr>
              <a:xfrm>
                <a:off x="1076324" y="5725418"/>
                <a:ext cx="7296149" cy="2743200"/>
              </a:xfrm>
              <a:prstGeom prst="rect">
                <a:avLst/>
              </a:prstGeom>
              <a:noFill/>
              <a:ln>
                <a:noFill/>
              </a:ln>
            </p:spPr>
          </p:pic>
          <p:sp>
            <p:nvSpPr>
              <p:cNvPr id="23" name="Google Shape;182;p18"/>
              <p:cNvSpPr/>
              <p:nvPr/>
            </p:nvSpPr>
            <p:spPr>
              <a:xfrm>
                <a:off x="1847850" y="3257550"/>
                <a:ext cx="6524624" cy="1924050"/>
              </a:xfrm>
              <a:prstGeom prst="rect">
                <a:avLst/>
              </a:prstGeom>
              <a:noFill/>
              <a:ln>
                <a:noFill/>
              </a:ln>
            </p:spPr>
            <p:txBody>
              <a:bodyPr spcFirstLastPara="1" wrap="square" lIns="91425" tIns="45700" rIns="91425" bIns="45700" anchor="ctr" anchorCtr="0">
                <a:noAutofit/>
              </a:bodyPr>
              <a:lstStyle/>
              <a:p>
                <a:pPr lvl="0" algn="just"/>
                <a:r>
                  <a:rPr lang="en-GB" sz="3600" b="1" dirty="0" smtClean="0">
                    <a:solidFill>
                      <a:schemeClr val="bg1"/>
                    </a:solidFill>
                    <a:latin typeface="Comic Sans MS" panose="030F0702030302020204" pitchFamily="66" charset="0"/>
                  </a:rPr>
                  <a:t>It is </a:t>
                </a:r>
                <a:r>
                  <a:rPr lang="en-GB" sz="3600" dirty="0" smtClean="0">
                    <a:solidFill>
                      <a:schemeClr val="bg1"/>
                    </a:solidFill>
                    <a:latin typeface="Comic Sans MS" panose="030F0702030302020204" pitchFamily="66" charset="0"/>
                  </a:rPr>
                  <a:t>Simple </a:t>
                </a:r>
                <a:r>
                  <a:rPr lang="en-GB" sz="3600" dirty="0">
                    <a:solidFill>
                      <a:schemeClr val="bg1"/>
                    </a:solidFill>
                    <a:latin typeface="Comic Sans MS" panose="030F0702030302020204" pitchFamily="66" charset="0"/>
                  </a:rPr>
                  <a:t>and interpretable model for linear relationships in medical data.</a:t>
                </a:r>
                <a:endParaRPr sz="3600" b="1" i="0" u="none" strike="noStrike" cap="none" dirty="0">
                  <a:solidFill>
                    <a:schemeClr val="bg1"/>
                  </a:solidFill>
                  <a:latin typeface="Comic Sans MS" panose="030F0702030302020204" pitchFamily="66" charset="0"/>
                  <a:ea typeface="Times New Roman"/>
                  <a:cs typeface="Times New Roman"/>
                  <a:sym typeface="Times New Roman"/>
                </a:endParaRPr>
              </a:p>
            </p:txBody>
          </p:sp>
        </p:grpSp>
        <p:grpSp>
          <p:nvGrpSpPr>
            <p:cNvPr id="25" name="Group 24"/>
            <p:cNvGrpSpPr/>
            <p:nvPr/>
          </p:nvGrpSpPr>
          <p:grpSpPr>
            <a:xfrm>
              <a:off x="9315451" y="2249448"/>
              <a:ext cx="8381999" cy="3524488"/>
              <a:chOff x="533401" y="2249448"/>
              <a:chExt cx="8381999" cy="3524488"/>
            </a:xfrm>
          </p:grpSpPr>
          <p:sp>
            <p:nvSpPr>
              <p:cNvPr id="26" name="Google Shape;182;p18"/>
              <p:cNvSpPr/>
              <p:nvPr/>
            </p:nvSpPr>
            <p:spPr>
              <a:xfrm>
                <a:off x="1076325" y="2249448"/>
                <a:ext cx="7296149" cy="707886"/>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4000" b="1" dirty="0" smtClean="0">
                    <a:solidFill>
                      <a:schemeClr val="lt1"/>
                    </a:solidFill>
                    <a:latin typeface="Comic Sans MS" panose="030F0702030302020204" pitchFamily="66" charset="0"/>
                    <a:ea typeface="Times New Roman"/>
                    <a:cs typeface="Times New Roman"/>
                    <a:sym typeface="Times New Roman"/>
                  </a:rPr>
                  <a:t>2. K-Nearest </a:t>
                </a:r>
                <a:r>
                  <a:rPr lang="en-US" sz="4000" b="1" dirty="0" err="1" smtClean="0">
                    <a:solidFill>
                      <a:schemeClr val="lt1"/>
                    </a:solidFill>
                    <a:latin typeface="Comic Sans MS" panose="030F0702030302020204" pitchFamily="66" charset="0"/>
                    <a:ea typeface="Times New Roman"/>
                    <a:cs typeface="Times New Roman"/>
                    <a:sym typeface="Times New Roman"/>
                  </a:rPr>
                  <a:t>Neighbour</a:t>
                </a:r>
                <a:endParaRPr sz="4000" b="1" i="0" u="none" strike="noStrike" cap="none" dirty="0">
                  <a:solidFill>
                    <a:schemeClr val="lt1"/>
                  </a:solidFill>
                  <a:latin typeface="Comic Sans MS" panose="030F0702030302020204" pitchFamily="66" charset="0"/>
                  <a:ea typeface="Times New Roman"/>
                  <a:cs typeface="Times New Roman"/>
                  <a:sym typeface="Times New Roman"/>
                </a:endParaRPr>
              </a:p>
            </p:txBody>
          </p:sp>
          <p:sp>
            <p:nvSpPr>
              <p:cNvPr id="27" name="Google Shape;183;p18"/>
              <p:cNvSpPr/>
              <p:nvPr/>
            </p:nvSpPr>
            <p:spPr>
              <a:xfrm>
                <a:off x="533401" y="2911614"/>
                <a:ext cx="8381999" cy="2862322"/>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3600" b="0" i="0" u="none" strike="noStrike" cap="none" dirty="0">
                  <a:solidFill>
                    <a:schemeClr val="lt1"/>
                  </a:solidFill>
                  <a:latin typeface="Times New Roman"/>
                  <a:ea typeface="Times New Roman"/>
                  <a:cs typeface="Times New Roman"/>
                  <a:sym typeface="Times New Roman"/>
                </a:endParaRPr>
              </a:p>
            </p:txBody>
          </p:sp>
          <p:sp>
            <p:nvSpPr>
              <p:cNvPr id="29" name="Google Shape;182;p18"/>
              <p:cNvSpPr/>
              <p:nvPr/>
            </p:nvSpPr>
            <p:spPr>
              <a:xfrm>
                <a:off x="1847850" y="3257550"/>
                <a:ext cx="6524624" cy="1924050"/>
              </a:xfrm>
              <a:prstGeom prst="rect">
                <a:avLst/>
              </a:prstGeom>
              <a:noFill/>
              <a:ln>
                <a:noFill/>
              </a:ln>
            </p:spPr>
            <p:txBody>
              <a:bodyPr spcFirstLastPara="1" wrap="square" lIns="91425" tIns="45700" rIns="91425" bIns="45700" anchor="ctr" anchorCtr="0">
                <a:noAutofit/>
              </a:bodyPr>
              <a:lstStyle/>
              <a:p>
                <a:pPr lvl="0" algn="just"/>
                <a:r>
                  <a:rPr lang="en-GB" sz="3600" b="1" dirty="0">
                    <a:solidFill>
                      <a:schemeClr val="bg1"/>
                    </a:solidFill>
                    <a:latin typeface="Comic Sans MS" panose="030F0702030302020204" pitchFamily="66" charset="0"/>
                  </a:rPr>
                  <a:t>KNN:</a:t>
                </a:r>
                <a:r>
                  <a:rPr lang="en-GB" sz="3600" dirty="0">
                    <a:solidFill>
                      <a:schemeClr val="bg1"/>
                    </a:solidFill>
                    <a:latin typeface="Comic Sans MS" panose="030F0702030302020204" pitchFamily="66" charset="0"/>
                  </a:rPr>
                  <a:t> Classifies based on nearest patients; sensitive to noise.</a:t>
                </a:r>
                <a:endParaRPr sz="3600" b="1" i="0" u="none" strike="noStrike" cap="none" dirty="0">
                  <a:solidFill>
                    <a:schemeClr val="bg1"/>
                  </a:solidFill>
                  <a:latin typeface="Comic Sans MS" panose="030F0702030302020204" pitchFamily="66" charset="0"/>
                  <a:ea typeface="Times New Roman"/>
                  <a:cs typeface="Times New Roman"/>
                  <a:sym typeface="Times New Roman"/>
                </a:endParaRPr>
              </a:p>
            </p:txBody>
          </p:sp>
        </p:grpSp>
        <p:pic>
          <p:nvPicPr>
            <p:cNvPr id="3" name="Picture 2"/>
            <p:cNvPicPr>
              <a:picLocks noChangeAspect="1"/>
            </p:cNvPicPr>
            <p:nvPr/>
          </p:nvPicPr>
          <p:blipFill>
            <a:blip r:embed="rId5"/>
            <a:stretch>
              <a:fillRect/>
            </a:stretch>
          </p:blipFill>
          <p:spPr>
            <a:xfrm>
              <a:off x="9934574" y="5706368"/>
              <a:ext cx="7419976" cy="2762250"/>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1"/>
                                        </p:tgtEl>
                                        <p:attrNameLst>
                                          <p:attrName>style.visibility</p:attrName>
                                        </p:attrNameLst>
                                      </p:cBhvr>
                                      <p:to>
                                        <p:strVal val="visible"/>
                                      </p:to>
                                    </p:set>
                                    <p:anim calcmode="lin" valueType="num">
                                      <p:cBhvr additive="base">
                                        <p:cTn id="7" dur="500"/>
                                        <p:tgtEl>
                                          <p:spTgt spid="18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pic>
        <p:nvPicPr>
          <p:cNvPr id="61" name="Picture 4" descr="Cardiology: Common Causes of Heart Disorders - Florida Premier Cardiology  Boynton Beach, F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extLst>
            <a:ext uri="{909E8E84-426E-40DD-AFC4-6F175D3DCCD1}">
              <a14:hiddenFill xmlns:a14="http://schemas.microsoft.com/office/drawing/2010/main">
                <a:solidFill>
                  <a:srgbClr val="FFFFFF"/>
                </a:solidFill>
              </a14:hiddenFill>
            </a:ext>
          </a:extLst>
        </p:spPr>
      </p:pic>
      <p:grpSp>
        <p:nvGrpSpPr>
          <p:cNvPr id="63" name="Group 62"/>
          <p:cNvGrpSpPr/>
          <p:nvPr/>
        </p:nvGrpSpPr>
        <p:grpSpPr>
          <a:xfrm>
            <a:off x="666751" y="1068348"/>
            <a:ext cx="8381999" cy="3524488"/>
            <a:chOff x="533401" y="2249448"/>
            <a:chExt cx="8381999" cy="3524488"/>
          </a:xfrm>
        </p:grpSpPr>
        <p:sp>
          <p:nvSpPr>
            <p:cNvPr id="64" name="Google Shape;182;p18"/>
            <p:cNvSpPr/>
            <p:nvPr/>
          </p:nvSpPr>
          <p:spPr>
            <a:xfrm>
              <a:off x="1076325" y="2249448"/>
              <a:ext cx="7296149" cy="707886"/>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4000" b="1" dirty="0" smtClean="0">
                  <a:solidFill>
                    <a:schemeClr val="lt1"/>
                  </a:solidFill>
                  <a:latin typeface="Comic Sans MS" panose="030F0702030302020204" pitchFamily="66" charset="0"/>
                  <a:ea typeface="Times New Roman"/>
                  <a:cs typeface="Times New Roman"/>
                  <a:sym typeface="Times New Roman"/>
                </a:rPr>
                <a:t>3. Support Vector Machine</a:t>
              </a:r>
              <a:endParaRPr sz="4000" b="1" i="0" u="none" strike="noStrike" cap="none" dirty="0">
                <a:solidFill>
                  <a:schemeClr val="lt1"/>
                </a:solidFill>
                <a:latin typeface="Comic Sans MS" panose="030F0702030302020204" pitchFamily="66" charset="0"/>
                <a:ea typeface="Times New Roman"/>
                <a:cs typeface="Times New Roman"/>
                <a:sym typeface="Times New Roman"/>
              </a:endParaRPr>
            </a:p>
          </p:txBody>
        </p:sp>
        <p:sp>
          <p:nvSpPr>
            <p:cNvPr id="65" name="Google Shape;183;p18"/>
            <p:cNvSpPr/>
            <p:nvPr/>
          </p:nvSpPr>
          <p:spPr>
            <a:xfrm>
              <a:off x="533401" y="2911614"/>
              <a:ext cx="8381999" cy="2862322"/>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3600" b="0" i="0" u="none" strike="noStrike" cap="none" dirty="0">
                <a:solidFill>
                  <a:schemeClr val="lt1"/>
                </a:solidFill>
                <a:latin typeface="Times New Roman"/>
                <a:ea typeface="Times New Roman"/>
                <a:cs typeface="Times New Roman"/>
                <a:sym typeface="Times New Roman"/>
              </a:endParaRPr>
            </a:p>
          </p:txBody>
        </p:sp>
        <p:sp>
          <p:nvSpPr>
            <p:cNvPr id="67" name="Google Shape;182;p18"/>
            <p:cNvSpPr/>
            <p:nvPr/>
          </p:nvSpPr>
          <p:spPr>
            <a:xfrm>
              <a:off x="1847850" y="3257550"/>
              <a:ext cx="6524624" cy="1924050"/>
            </a:xfrm>
            <a:prstGeom prst="rect">
              <a:avLst/>
            </a:prstGeom>
            <a:noFill/>
            <a:ln>
              <a:noFill/>
            </a:ln>
          </p:spPr>
          <p:txBody>
            <a:bodyPr spcFirstLastPara="1" wrap="square" lIns="91425" tIns="45700" rIns="91425" bIns="45700" anchor="ctr" anchorCtr="0">
              <a:noAutofit/>
            </a:bodyPr>
            <a:lstStyle/>
            <a:p>
              <a:pPr lvl="0" algn="just"/>
              <a:r>
                <a:rPr lang="en-GB" sz="3600" b="1" dirty="0">
                  <a:solidFill>
                    <a:schemeClr val="bg1"/>
                  </a:solidFill>
                  <a:latin typeface="Comic Sans MS" panose="030F0702030302020204" pitchFamily="66" charset="0"/>
                </a:rPr>
                <a:t>SVM:</a:t>
              </a:r>
              <a:r>
                <a:rPr lang="en-GB" sz="3600" dirty="0">
                  <a:solidFill>
                    <a:schemeClr val="bg1"/>
                  </a:solidFill>
                  <a:latin typeface="Comic Sans MS" panose="030F0702030302020204" pitchFamily="66" charset="0"/>
                </a:rPr>
                <a:t> Finds the best boundary; works well for complex patterns.</a:t>
              </a:r>
              <a:endParaRPr sz="3600" b="1" i="0" u="none" strike="noStrike" cap="none" dirty="0">
                <a:solidFill>
                  <a:schemeClr val="bg1"/>
                </a:solidFill>
                <a:latin typeface="Comic Sans MS" panose="030F0702030302020204" pitchFamily="66" charset="0"/>
                <a:ea typeface="Times New Roman"/>
                <a:cs typeface="Times New Roman"/>
                <a:sym typeface="Times New Roman"/>
              </a:endParaRPr>
            </a:p>
          </p:txBody>
        </p:sp>
      </p:grpSp>
      <p:grpSp>
        <p:nvGrpSpPr>
          <p:cNvPr id="68" name="Group 67"/>
          <p:cNvGrpSpPr/>
          <p:nvPr/>
        </p:nvGrpSpPr>
        <p:grpSpPr>
          <a:xfrm>
            <a:off x="9448801" y="1068348"/>
            <a:ext cx="8381999" cy="3524488"/>
            <a:chOff x="533401" y="2249448"/>
            <a:chExt cx="8381999" cy="3524488"/>
          </a:xfrm>
        </p:grpSpPr>
        <p:sp>
          <p:nvSpPr>
            <p:cNvPr id="69" name="Google Shape;182;p18"/>
            <p:cNvSpPr/>
            <p:nvPr/>
          </p:nvSpPr>
          <p:spPr>
            <a:xfrm>
              <a:off x="1076325" y="2249448"/>
              <a:ext cx="7296149" cy="707886"/>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4000" b="1" dirty="0" smtClean="0">
                  <a:solidFill>
                    <a:schemeClr val="lt1"/>
                  </a:solidFill>
                  <a:latin typeface="Comic Sans MS" panose="030F0702030302020204" pitchFamily="66" charset="0"/>
                  <a:ea typeface="Times New Roman"/>
                  <a:cs typeface="Times New Roman"/>
                  <a:sym typeface="Times New Roman"/>
                </a:rPr>
                <a:t>4. Decision Tree</a:t>
              </a:r>
              <a:endParaRPr sz="4000" b="1" i="0" u="none" strike="noStrike" cap="none" dirty="0">
                <a:solidFill>
                  <a:schemeClr val="lt1"/>
                </a:solidFill>
                <a:latin typeface="Comic Sans MS" panose="030F0702030302020204" pitchFamily="66" charset="0"/>
                <a:ea typeface="Times New Roman"/>
                <a:cs typeface="Times New Roman"/>
                <a:sym typeface="Times New Roman"/>
              </a:endParaRPr>
            </a:p>
          </p:txBody>
        </p:sp>
        <p:sp>
          <p:nvSpPr>
            <p:cNvPr id="70" name="Google Shape;183;p18"/>
            <p:cNvSpPr/>
            <p:nvPr/>
          </p:nvSpPr>
          <p:spPr>
            <a:xfrm>
              <a:off x="533401" y="2911614"/>
              <a:ext cx="8381999" cy="2862322"/>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3600" b="0" i="0" u="none" strike="noStrike" cap="none" dirty="0">
                <a:solidFill>
                  <a:schemeClr val="lt1"/>
                </a:solidFill>
                <a:latin typeface="Times New Roman"/>
                <a:ea typeface="Times New Roman"/>
                <a:cs typeface="Times New Roman"/>
                <a:sym typeface="Times New Roman"/>
              </a:endParaRPr>
            </a:p>
          </p:txBody>
        </p:sp>
        <p:sp>
          <p:nvSpPr>
            <p:cNvPr id="72" name="Google Shape;182;p18"/>
            <p:cNvSpPr/>
            <p:nvPr/>
          </p:nvSpPr>
          <p:spPr>
            <a:xfrm>
              <a:off x="1847850" y="3257550"/>
              <a:ext cx="6524624" cy="1924050"/>
            </a:xfrm>
            <a:prstGeom prst="rect">
              <a:avLst/>
            </a:prstGeom>
            <a:noFill/>
            <a:ln>
              <a:noFill/>
            </a:ln>
          </p:spPr>
          <p:txBody>
            <a:bodyPr spcFirstLastPara="1" wrap="square" lIns="91425" tIns="45700" rIns="91425" bIns="45700" anchor="ctr" anchorCtr="0">
              <a:noAutofit/>
            </a:bodyPr>
            <a:lstStyle/>
            <a:p>
              <a:pPr lvl="0" algn="just"/>
              <a:r>
                <a:rPr lang="en-GB" sz="3600" b="1" dirty="0">
                  <a:solidFill>
                    <a:schemeClr val="bg1"/>
                  </a:solidFill>
                  <a:latin typeface="Comic Sans MS" panose="030F0702030302020204" pitchFamily="66" charset="0"/>
                </a:rPr>
                <a:t>Decision Tree:</a:t>
              </a:r>
              <a:r>
                <a:rPr lang="en-GB" sz="3600" dirty="0">
                  <a:solidFill>
                    <a:schemeClr val="bg1"/>
                  </a:solidFill>
                  <a:latin typeface="Comic Sans MS" panose="030F0702030302020204" pitchFamily="66" charset="0"/>
                </a:rPr>
                <a:t> Uses simple rules; performs extremely well on this dataset.</a:t>
              </a:r>
              <a:endParaRPr sz="3600" b="1" i="0" u="none" strike="noStrike" cap="none" dirty="0">
                <a:solidFill>
                  <a:schemeClr val="bg1"/>
                </a:solidFill>
                <a:latin typeface="Comic Sans MS" panose="030F0702030302020204" pitchFamily="66" charset="0"/>
                <a:ea typeface="Times New Roman"/>
                <a:cs typeface="Times New Roman"/>
                <a:sym typeface="Times New Roman"/>
              </a:endParaRPr>
            </a:p>
          </p:txBody>
        </p:sp>
      </p:grpSp>
      <p:pic>
        <p:nvPicPr>
          <p:cNvPr id="2" name="Picture 1"/>
          <p:cNvPicPr>
            <a:picLocks noChangeAspect="1"/>
          </p:cNvPicPr>
          <p:nvPr/>
        </p:nvPicPr>
        <p:blipFill>
          <a:blip r:embed="rId4"/>
          <a:stretch>
            <a:fillRect/>
          </a:stretch>
        </p:blipFill>
        <p:spPr>
          <a:xfrm>
            <a:off x="1209674" y="4544317"/>
            <a:ext cx="7477126" cy="4190476"/>
          </a:xfrm>
          <a:prstGeom prst="rect">
            <a:avLst/>
          </a:prstGeom>
        </p:spPr>
      </p:pic>
      <p:pic>
        <p:nvPicPr>
          <p:cNvPr id="3" name="Picture 2"/>
          <p:cNvPicPr>
            <a:picLocks noChangeAspect="1"/>
          </p:cNvPicPr>
          <p:nvPr/>
        </p:nvPicPr>
        <p:blipFill>
          <a:blip r:embed="rId5"/>
          <a:stretch>
            <a:fillRect/>
          </a:stretch>
        </p:blipFill>
        <p:spPr>
          <a:xfrm>
            <a:off x="10067424" y="4544317"/>
            <a:ext cx="7385715" cy="3170933"/>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pic>
        <p:nvPicPr>
          <p:cNvPr id="4" name="Picture 4" descr="Cardiology: Common Causes of Heart Disorders - Florida Premier Cardiology  Boynton Beach, F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p:cNvGrpSpPr/>
          <p:nvPr/>
        </p:nvGrpSpPr>
        <p:grpSpPr>
          <a:xfrm>
            <a:off x="666751" y="1068348"/>
            <a:ext cx="8381999" cy="3524488"/>
            <a:chOff x="533401" y="2249448"/>
            <a:chExt cx="8381999" cy="3524488"/>
          </a:xfrm>
        </p:grpSpPr>
        <p:sp>
          <p:nvSpPr>
            <p:cNvPr id="6" name="Google Shape;182;p18"/>
            <p:cNvSpPr/>
            <p:nvPr/>
          </p:nvSpPr>
          <p:spPr>
            <a:xfrm>
              <a:off x="1076325" y="2249448"/>
              <a:ext cx="7296149" cy="707886"/>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4000" b="1" dirty="0" smtClean="0">
                  <a:solidFill>
                    <a:schemeClr val="lt1"/>
                  </a:solidFill>
                  <a:latin typeface="Comic Sans MS" panose="030F0702030302020204" pitchFamily="66" charset="0"/>
                  <a:ea typeface="Times New Roman"/>
                  <a:cs typeface="Times New Roman"/>
                  <a:sym typeface="Times New Roman"/>
                </a:rPr>
                <a:t>5. Random Forest</a:t>
              </a:r>
              <a:endParaRPr sz="4000" b="1" i="0" u="none" strike="noStrike" cap="none" dirty="0">
                <a:solidFill>
                  <a:schemeClr val="lt1"/>
                </a:solidFill>
                <a:latin typeface="Comic Sans MS" panose="030F0702030302020204" pitchFamily="66" charset="0"/>
                <a:ea typeface="Times New Roman"/>
                <a:cs typeface="Times New Roman"/>
                <a:sym typeface="Times New Roman"/>
              </a:endParaRPr>
            </a:p>
          </p:txBody>
        </p:sp>
        <p:sp>
          <p:nvSpPr>
            <p:cNvPr id="7" name="Google Shape;183;p18"/>
            <p:cNvSpPr/>
            <p:nvPr/>
          </p:nvSpPr>
          <p:spPr>
            <a:xfrm>
              <a:off x="533401" y="2911614"/>
              <a:ext cx="8381999" cy="2862322"/>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3600" b="0" i="0" u="none" strike="noStrike" cap="none" dirty="0">
                <a:solidFill>
                  <a:schemeClr val="lt1"/>
                </a:solidFill>
                <a:latin typeface="Times New Roman"/>
                <a:ea typeface="Times New Roman"/>
                <a:cs typeface="Times New Roman"/>
                <a:sym typeface="Times New Roman"/>
              </a:endParaRPr>
            </a:p>
          </p:txBody>
        </p:sp>
        <p:sp>
          <p:nvSpPr>
            <p:cNvPr id="8" name="Google Shape;182;p18"/>
            <p:cNvSpPr/>
            <p:nvPr/>
          </p:nvSpPr>
          <p:spPr>
            <a:xfrm>
              <a:off x="1847850" y="3257550"/>
              <a:ext cx="6524624" cy="1924050"/>
            </a:xfrm>
            <a:prstGeom prst="rect">
              <a:avLst/>
            </a:prstGeom>
            <a:noFill/>
            <a:ln>
              <a:noFill/>
            </a:ln>
          </p:spPr>
          <p:txBody>
            <a:bodyPr spcFirstLastPara="1" wrap="square" lIns="91425" tIns="45700" rIns="91425" bIns="45700" anchor="ctr" anchorCtr="0">
              <a:noAutofit/>
            </a:bodyPr>
            <a:lstStyle/>
            <a:p>
              <a:pPr lvl="0" algn="just"/>
              <a:r>
                <a:rPr lang="en-GB" sz="3600" b="1" dirty="0">
                  <a:solidFill>
                    <a:schemeClr val="bg1"/>
                  </a:solidFill>
                  <a:latin typeface="Comic Sans MS" panose="030F0702030302020204" pitchFamily="66" charset="0"/>
                </a:rPr>
                <a:t>Random Forest:</a:t>
              </a:r>
              <a:r>
                <a:rPr lang="en-GB" sz="3600" dirty="0">
                  <a:solidFill>
                    <a:schemeClr val="bg1"/>
                  </a:solidFill>
                  <a:latin typeface="Comic Sans MS" panose="030F0702030302020204" pitchFamily="66" charset="0"/>
                </a:rPr>
                <a:t> Many trees combined; strong and stable accuracy.</a:t>
              </a:r>
              <a:endParaRPr sz="3600" b="1" i="0" u="none" strike="noStrike" cap="none" dirty="0">
                <a:solidFill>
                  <a:schemeClr val="bg1"/>
                </a:solidFill>
                <a:latin typeface="Comic Sans MS" panose="030F0702030302020204" pitchFamily="66" charset="0"/>
                <a:ea typeface="Times New Roman"/>
                <a:cs typeface="Times New Roman"/>
                <a:sym typeface="Times New Roman"/>
              </a:endParaRPr>
            </a:p>
          </p:txBody>
        </p:sp>
      </p:grpSp>
      <p:grpSp>
        <p:nvGrpSpPr>
          <p:cNvPr id="9" name="Group 8"/>
          <p:cNvGrpSpPr/>
          <p:nvPr/>
        </p:nvGrpSpPr>
        <p:grpSpPr>
          <a:xfrm>
            <a:off x="9448801" y="1068348"/>
            <a:ext cx="8381999" cy="3524488"/>
            <a:chOff x="533401" y="2249448"/>
            <a:chExt cx="8381999" cy="3524488"/>
          </a:xfrm>
        </p:grpSpPr>
        <p:sp>
          <p:nvSpPr>
            <p:cNvPr id="10" name="Google Shape;182;p18"/>
            <p:cNvSpPr/>
            <p:nvPr/>
          </p:nvSpPr>
          <p:spPr>
            <a:xfrm>
              <a:off x="1076325" y="2249448"/>
              <a:ext cx="7296149" cy="707886"/>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4000" b="1" dirty="0" smtClean="0">
                  <a:solidFill>
                    <a:schemeClr val="lt1"/>
                  </a:solidFill>
                  <a:latin typeface="Comic Sans MS" panose="030F0702030302020204" pitchFamily="66" charset="0"/>
                  <a:ea typeface="Times New Roman"/>
                  <a:cs typeface="Times New Roman"/>
                  <a:sym typeface="Times New Roman"/>
                </a:rPr>
                <a:t>6. Gradient Boosting</a:t>
              </a:r>
              <a:endParaRPr sz="4000" b="1" i="0" u="none" strike="noStrike" cap="none" dirty="0">
                <a:solidFill>
                  <a:schemeClr val="lt1"/>
                </a:solidFill>
                <a:latin typeface="Comic Sans MS" panose="030F0702030302020204" pitchFamily="66" charset="0"/>
                <a:ea typeface="Times New Roman"/>
                <a:cs typeface="Times New Roman"/>
                <a:sym typeface="Times New Roman"/>
              </a:endParaRPr>
            </a:p>
          </p:txBody>
        </p:sp>
        <p:sp>
          <p:nvSpPr>
            <p:cNvPr id="11" name="Google Shape;183;p18"/>
            <p:cNvSpPr/>
            <p:nvPr/>
          </p:nvSpPr>
          <p:spPr>
            <a:xfrm>
              <a:off x="533401" y="2911614"/>
              <a:ext cx="8381999" cy="2862322"/>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3600" b="0" i="0" u="none" strike="noStrike" cap="none" dirty="0">
                <a:solidFill>
                  <a:schemeClr val="lt1"/>
                </a:solidFill>
                <a:latin typeface="Times New Roman"/>
                <a:ea typeface="Times New Roman"/>
                <a:cs typeface="Times New Roman"/>
                <a:sym typeface="Times New Roman"/>
              </a:endParaRPr>
            </a:p>
          </p:txBody>
        </p:sp>
        <p:sp>
          <p:nvSpPr>
            <p:cNvPr id="12" name="Google Shape;182;p18"/>
            <p:cNvSpPr/>
            <p:nvPr/>
          </p:nvSpPr>
          <p:spPr>
            <a:xfrm>
              <a:off x="1847850" y="3257550"/>
              <a:ext cx="6524624" cy="1924050"/>
            </a:xfrm>
            <a:prstGeom prst="rect">
              <a:avLst/>
            </a:prstGeom>
            <a:noFill/>
            <a:ln>
              <a:noFill/>
            </a:ln>
          </p:spPr>
          <p:txBody>
            <a:bodyPr spcFirstLastPara="1" wrap="square" lIns="91425" tIns="45700" rIns="91425" bIns="45700" anchor="ctr" anchorCtr="0">
              <a:noAutofit/>
            </a:bodyPr>
            <a:lstStyle/>
            <a:p>
              <a:pPr lvl="0"/>
              <a:r>
                <a:rPr lang="en-GB" sz="3600" b="1" dirty="0">
                  <a:solidFill>
                    <a:schemeClr val="bg1"/>
                  </a:solidFill>
                  <a:latin typeface="Comic Sans MS" panose="030F0702030302020204" pitchFamily="66" charset="0"/>
                </a:rPr>
                <a:t>Gradient Boosting:</a:t>
              </a:r>
              <a:r>
                <a:rPr lang="en-GB" sz="3600" dirty="0">
                  <a:solidFill>
                    <a:schemeClr val="bg1"/>
                  </a:solidFill>
                  <a:latin typeface="Comic Sans MS" panose="030F0702030302020204" pitchFamily="66" charset="0"/>
                </a:rPr>
                <a:t> Sequentially improved trees; top-performing model.</a:t>
              </a:r>
              <a:endParaRPr sz="3600" b="1" i="0" u="none" strike="noStrike" cap="none" dirty="0">
                <a:solidFill>
                  <a:schemeClr val="bg1"/>
                </a:solidFill>
                <a:latin typeface="Comic Sans MS" panose="030F0702030302020204" pitchFamily="66" charset="0"/>
                <a:ea typeface="Times New Roman"/>
                <a:cs typeface="Times New Roman"/>
                <a:sym typeface="Times New Roman"/>
              </a:endParaRPr>
            </a:p>
          </p:txBody>
        </p:sp>
      </p:grpSp>
      <p:pic>
        <p:nvPicPr>
          <p:cNvPr id="15" name="Picture 14"/>
          <p:cNvPicPr>
            <a:picLocks noChangeAspect="1"/>
          </p:cNvPicPr>
          <p:nvPr/>
        </p:nvPicPr>
        <p:blipFill>
          <a:blip r:embed="rId3"/>
          <a:stretch>
            <a:fillRect/>
          </a:stretch>
        </p:blipFill>
        <p:spPr>
          <a:xfrm>
            <a:off x="1285874" y="4507184"/>
            <a:ext cx="7392319" cy="2998516"/>
          </a:xfrm>
          <a:prstGeom prst="rect">
            <a:avLst/>
          </a:prstGeom>
        </p:spPr>
      </p:pic>
      <p:pic>
        <p:nvPicPr>
          <p:cNvPr id="16" name="Picture 15"/>
          <p:cNvPicPr>
            <a:picLocks noChangeAspect="1"/>
          </p:cNvPicPr>
          <p:nvPr/>
        </p:nvPicPr>
        <p:blipFill>
          <a:blip r:embed="rId4"/>
          <a:stretch>
            <a:fillRect/>
          </a:stretch>
        </p:blipFill>
        <p:spPr>
          <a:xfrm>
            <a:off x="10059318" y="4400446"/>
            <a:ext cx="7314026" cy="2629004"/>
          </a:xfrm>
          <a:prstGeom prst="rect">
            <a:avLst/>
          </a:prstGeom>
        </p:spPr>
      </p:pic>
    </p:spTree>
    <p:extLst>
      <p:ext uri="{BB962C8B-B14F-4D97-AF65-F5344CB8AC3E}">
        <p14:creationId xmlns:p14="http://schemas.microsoft.com/office/powerpoint/2010/main" val="92517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pic>
        <p:nvPicPr>
          <p:cNvPr id="28" name="Picture 4" descr="Cardiology: Common Causes of Heart Disorders - Florida Premier Cardiology  Boynton Beach, F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extLst>
            <a:ext uri="{909E8E84-426E-40DD-AFC4-6F175D3DCCD1}">
              <a14:hiddenFill xmlns:a14="http://schemas.microsoft.com/office/drawing/2010/main">
                <a:solidFill>
                  <a:srgbClr val="FFFFFF"/>
                </a:solidFill>
              </a14:hiddenFill>
            </a:ext>
          </a:extLst>
        </p:spPr>
      </p:pic>
      <p:grpSp>
        <p:nvGrpSpPr>
          <p:cNvPr id="29" name="Group 28"/>
          <p:cNvGrpSpPr/>
          <p:nvPr/>
        </p:nvGrpSpPr>
        <p:grpSpPr>
          <a:xfrm>
            <a:off x="666751" y="1068348"/>
            <a:ext cx="8381999" cy="3524488"/>
            <a:chOff x="533401" y="2249448"/>
            <a:chExt cx="8381999" cy="3524488"/>
          </a:xfrm>
        </p:grpSpPr>
        <p:sp>
          <p:nvSpPr>
            <p:cNvPr id="30" name="Google Shape;182;p18"/>
            <p:cNvSpPr/>
            <p:nvPr/>
          </p:nvSpPr>
          <p:spPr>
            <a:xfrm>
              <a:off x="1076325" y="2249448"/>
              <a:ext cx="7296149" cy="707886"/>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4000" b="1" dirty="0" smtClean="0">
                  <a:solidFill>
                    <a:schemeClr val="lt1"/>
                  </a:solidFill>
                  <a:latin typeface="Comic Sans MS" panose="030F0702030302020204" pitchFamily="66" charset="0"/>
                  <a:ea typeface="Times New Roman"/>
                  <a:cs typeface="Times New Roman"/>
                  <a:sym typeface="Times New Roman"/>
                </a:rPr>
                <a:t>7. Naïve Bayes </a:t>
              </a:r>
              <a:endParaRPr sz="4000" b="1" i="0" u="none" strike="noStrike" cap="none" dirty="0">
                <a:solidFill>
                  <a:schemeClr val="lt1"/>
                </a:solidFill>
                <a:latin typeface="Comic Sans MS" panose="030F0702030302020204" pitchFamily="66" charset="0"/>
                <a:ea typeface="Times New Roman"/>
                <a:cs typeface="Times New Roman"/>
                <a:sym typeface="Times New Roman"/>
              </a:endParaRPr>
            </a:p>
          </p:txBody>
        </p:sp>
        <p:sp>
          <p:nvSpPr>
            <p:cNvPr id="31" name="Google Shape;183;p18"/>
            <p:cNvSpPr/>
            <p:nvPr/>
          </p:nvSpPr>
          <p:spPr>
            <a:xfrm>
              <a:off x="533401" y="2911614"/>
              <a:ext cx="8381999" cy="2862322"/>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3600" b="0" i="0" u="none" strike="noStrike" cap="none" dirty="0">
                <a:solidFill>
                  <a:schemeClr val="lt1"/>
                </a:solidFill>
                <a:latin typeface="Times New Roman"/>
                <a:ea typeface="Times New Roman"/>
                <a:cs typeface="Times New Roman"/>
                <a:sym typeface="Times New Roman"/>
              </a:endParaRPr>
            </a:p>
          </p:txBody>
        </p:sp>
        <p:sp>
          <p:nvSpPr>
            <p:cNvPr id="32" name="Google Shape;182;p18"/>
            <p:cNvSpPr/>
            <p:nvPr/>
          </p:nvSpPr>
          <p:spPr>
            <a:xfrm>
              <a:off x="1847850" y="3257550"/>
              <a:ext cx="6524624" cy="1924050"/>
            </a:xfrm>
            <a:prstGeom prst="rect">
              <a:avLst/>
            </a:prstGeom>
            <a:noFill/>
            <a:ln>
              <a:noFill/>
            </a:ln>
          </p:spPr>
          <p:txBody>
            <a:bodyPr spcFirstLastPara="1" wrap="square" lIns="91425" tIns="45700" rIns="91425" bIns="45700" anchor="ctr" anchorCtr="0">
              <a:noAutofit/>
            </a:bodyPr>
            <a:lstStyle/>
            <a:p>
              <a:pPr lvl="0"/>
              <a:r>
                <a:rPr lang="en-GB" sz="3600" b="1" dirty="0">
                  <a:solidFill>
                    <a:schemeClr val="bg1"/>
                  </a:solidFill>
                  <a:latin typeface="Comic Sans MS" panose="030F0702030302020204" pitchFamily="66" charset="0"/>
                </a:rPr>
                <a:t>Naive Bayes:</a:t>
              </a:r>
              <a:r>
                <a:rPr lang="en-GB" sz="3600" dirty="0">
                  <a:solidFill>
                    <a:schemeClr val="bg1"/>
                  </a:solidFill>
                  <a:latin typeface="Comic Sans MS" panose="030F0702030302020204" pitchFamily="66" charset="0"/>
                </a:rPr>
                <a:t> Fast probabilistic model; performs surprisingly well.</a:t>
              </a:r>
              <a:endParaRPr sz="3600" b="1" i="0" u="none" strike="noStrike" cap="none" dirty="0">
                <a:solidFill>
                  <a:schemeClr val="bg1"/>
                </a:solidFill>
                <a:latin typeface="Comic Sans MS" panose="030F0702030302020204" pitchFamily="66" charset="0"/>
                <a:ea typeface="Times New Roman"/>
                <a:cs typeface="Times New Roman"/>
                <a:sym typeface="Times New Roman"/>
              </a:endParaRPr>
            </a:p>
          </p:txBody>
        </p:sp>
      </p:grpSp>
      <p:pic>
        <p:nvPicPr>
          <p:cNvPr id="2" name="Picture 1"/>
          <p:cNvPicPr>
            <a:picLocks noChangeAspect="1"/>
          </p:cNvPicPr>
          <p:nvPr/>
        </p:nvPicPr>
        <p:blipFill>
          <a:blip r:embed="rId4"/>
          <a:stretch>
            <a:fillRect/>
          </a:stretch>
        </p:blipFill>
        <p:spPr>
          <a:xfrm>
            <a:off x="1209674" y="4252809"/>
            <a:ext cx="8076748" cy="3748191"/>
          </a:xfrm>
          <a:prstGeom prst="rect">
            <a:avLst/>
          </a:prstGeom>
        </p:spPr>
      </p:pic>
      <p:pic>
        <p:nvPicPr>
          <p:cNvPr id="3" name="Picture 2"/>
          <p:cNvPicPr>
            <a:picLocks noChangeAspect="1"/>
          </p:cNvPicPr>
          <p:nvPr/>
        </p:nvPicPr>
        <p:blipFill>
          <a:blip r:embed="rId5"/>
          <a:stretch>
            <a:fillRect/>
          </a:stretch>
        </p:blipFill>
        <p:spPr>
          <a:xfrm>
            <a:off x="10335244" y="1158939"/>
            <a:ext cx="6106919" cy="2936811"/>
          </a:xfrm>
          <a:prstGeom prst="rect">
            <a:avLst/>
          </a:prstGeom>
        </p:spPr>
      </p:pic>
      <p:pic>
        <p:nvPicPr>
          <p:cNvPr id="4" name="Picture 3"/>
          <p:cNvPicPr>
            <a:picLocks noChangeAspect="1"/>
          </p:cNvPicPr>
          <p:nvPr/>
        </p:nvPicPr>
        <p:blipFill>
          <a:blip r:embed="rId6"/>
          <a:stretch>
            <a:fillRect/>
          </a:stretch>
        </p:blipFill>
        <p:spPr>
          <a:xfrm>
            <a:off x="10307897" y="4519509"/>
            <a:ext cx="6134266" cy="4731084"/>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pic>
        <p:nvPicPr>
          <p:cNvPr id="8" name="Picture 4" descr="Cardiology: Common Causes of Heart Disorders - Florida Premier Cardiology  Boynton Beach, F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extLst>
            <a:ext uri="{909E8E84-426E-40DD-AFC4-6F175D3DCCD1}">
              <a14:hiddenFill xmlns:a14="http://schemas.microsoft.com/office/drawing/2010/main">
                <a:solidFill>
                  <a:srgbClr val="FFFFFF"/>
                </a:solidFill>
              </a14:hiddenFill>
            </a:ext>
          </a:extLst>
        </p:spPr>
      </p:pic>
      <p:sp>
        <p:nvSpPr>
          <p:cNvPr id="352" name="Google Shape;352;p23"/>
          <p:cNvSpPr/>
          <p:nvPr/>
        </p:nvSpPr>
        <p:spPr>
          <a:xfrm>
            <a:off x="4686300" y="746690"/>
            <a:ext cx="11068050" cy="707886"/>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8000" b="1" dirty="0" smtClean="0">
                <a:solidFill>
                  <a:schemeClr val="lt1"/>
                </a:solidFill>
                <a:latin typeface="MV Boli" panose="02000500030200090000" pitchFamily="2" charset="0"/>
                <a:ea typeface="Times New Roman"/>
                <a:cs typeface="MV Boli" panose="02000500030200090000" pitchFamily="2" charset="0"/>
                <a:sym typeface="Times New Roman"/>
              </a:rPr>
              <a:t>Model Comparison</a:t>
            </a:r>
            <a:endParaRPr sz="8000" b="1" i="0" u="none" strike="noStrike" cap="none" dirty="0">
              <a:solidFill>
                <a:schemeClr val="lt1"/>
              </a:solidFill>
              <a:latin typeface="MV Boli" panose="02000500030200090000" pitchFamily="2" charset="0"/>
              <a:ea typeface="Times New Roman"/>
              <a:cs typeface="MV Boli" panose="02000500030200090000" pitchFamily="2" charset="0"/>
              <a:sym typeface="Times New Roman"/>
            </a:endParaRPr>
          </a:p>
        </p:txBody>
      </p:sp>
      <p:grpSp>
        <p:nvGrpSpPr>
          <p:cNvPr id="6" name="Group 5"/>
          <p:cNvGrpSpPr/>
          <p:nvPr/>
        </p:nvGrpSpPr>
        <p:grpSpPr>
          <a:xfrm>
            <a:off x="1294733" y="4685901"/>
            <a:ext cx="15678818" cy="4838795"/>
            <a:chOff x="1008983" y="4666851"/>
            <a:chExt cx="15678818" cy="4838795"/>
          </a:xfrm>
        </p:grpSpPr>
        <p:pic>
          <p:nvPicPr>
            <p:cNvPr id="2" name="Picture 1"/>
            <p:cNvPicPr>
              <a:picLocks noChangeAspect="1"/>
            </p:cNvPicPr>
            <p:nvPr/>
          </p:nvPicPr>
          <p:blipFill>
            <a:blip r:embed="rId4"/>
            <a:stretch>
              <a:fillRect/>
            </a:stretch>
          </p:blipFill>
          <p:spPr>
            <a:xfrm>
              <a:off x="9695785" y="6838177"/>
              <a:ext cx="6992016" cy="2643622"/>
            </a:xfrm>
            <a:prstGeom prst="rect">
              <a:avLst/>
            </a:prstGeom>
          </p:spPr>
        </p:pic>
        <p:pic>
          <p:nvPicPr>
            <p:cNvPr id="3" name="Picture 2"/>
            <p:cNvPicPr>
              <a:picLocks noChangeAspect="1"/>
            </p:cNvPicPr>
            <p:nvPr/>
          </p:nvPicPr>
          <p:blipFill>
            <a:blip r:embed="rId5"/>
            <a:stretch>
              <a:fillRect/>
            </a:stretch>
          </p:blipFill>
          <p:spPr>
            <a:xfrm>
              <a:off x="1008983" y="4666851"/>
              <a:ext cx="8096917" cy="4838795"/>
            </a:xfrm>
            <a:prstGeom prst="rect">
              <a:avLst/>
            </a:prstGeom>
          </p:spPr>
        </p:pic>
        <p:pic>
          <p:nvPicPr>
            <p:cNvPr id="4" name="Picture 3"/>
            <p:cNvPicPr>
              <a:picLocks noChangeAspect="1"/>
            </p:cNvPicPr>
            <p:nvPr/>
          </p:nvPicPr>
          <p:blipFill>
            <a:blip r:embed="rId6"/>
            <a:stretch>
              <a:fillRect/>
            </a:stretch>
          </p:blipFill>
          <p:spPr>
            <a:xfrm>
              <a:off x="9672594" y="4666851"/>
              <a:ext cx="7015207" cy="1631443"/>
            </a:xfrm>
            <a:prstGeom prst="rect">
              <a:avLst/>
            </a:prstGeom>
          </p:spPr>
        </p:pic>
      </p:grpSp>
      <p:sp>
        <p:nvSpPr>
          <p:cNvPr id="14" name="Google Shape;352;p23"/>
          <p:cNvSpPr/>
          <p:nvPr/>
        </p:nvSpPr>
        <p:spPr>
          <a:xfrm>
            <a:off x="1294733" y="1833561"/>
            <a:ext cx="15678818" cy="2790089"/>
          </a:xfrm>
          <a:prstGeom prst="rect">
            <a:avLst/>
          </a:prstGeom>
          <a:noFill/>
          <a:ln>
            <a:noFill/>
          </a:ln>
        </p:spPr>
        <p:txBody>
          <a:bodyPr spcFirstLastPara="1" wrap="square" lIns="91425" tIns="45700" rIns="91425" bIns="45700" anchor="ctr" anchorCtr="0">
            <a:noAutofit/>
          </a:bodyPr>
          <a:lstStyle/>
          <a:p>
            <a:pPr lvl="0" algn="just"/>
            <a:r>
              <a:rPr lang="en-GB" sz="3000" dirty="0">
                <a:solidFill>
                  <a:schemeClr val="bg1"/>
                </a:solidFill>
                <a:latin typeface="Comic Sans MS" panose="030F0702030302020204" pitchFamily="66" charset="0"/>
              </a:rPr>
              <a:t>Based on the results, Decision Tree and Gradient Boosting performed the best with perfect scores across all metrics. Random Forest also showed excellent performance with very high accuracy. Naive Bayes and SVM performed well, while Logistic Regression gave moderate results. KNN had the lowest accuracy, making it the weakest model in this comparison.</a:t>
            </a:r>
            <a:endParaRPr sz="3000" b="1" i="0" u="none" strike="noStrike" cap="none" dirty="0">
              <a:solidFill>
                <a:schemeClr val="bg1"/>
              </a:solidFill>
              <a:latin typeface="Comic Sans MS" panose="030F0702030302020204" pitchFamily="66" charset="0"/>
              <a:ea typeface="Times New Roman"/>
              <a:cs typeface="MV Boli" panose="02000500030200090000" pitchFamily="2" charset="0"/>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2"/>
                                        </p:tgtEl>
                                        <p:attrNameLst>
                                          <p:attrName>style.visibility</p:attrName>
                                        </p:attrNameLst>
                                      </p:cBhvr>
                                      <p:to>
                                        <p:strVal val="visible"/>
                                      </p:to>
                                    </p:set>
                                    <p:anim calcmode="lin" valueType="num">
                                      <p:cBhvr additive="base">
                                        <p:cTn id="7" dur="500"/>
                                        <p:tgtEl>
                                          <p:spTgt spid="352"/>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500"/>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pic>
        <p:nvPicPr>
          <p:cNvPr id="7" name="Picture 4" descr="Cardiology: Common Causes of Heart Disorders - Florida Premier Cardiology  Boynton Beach, F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extLst>
            <a:ext uri="{909E8E84-426E-40DD-AFC4-6F175D3DCCD1}">
              <a14:hiddenFill xmlns:a14="http://schemas.microsoft.com/office/drawing/2010/main">
                <a:solidFill>
                  <a:srgbClr val="FFFFFF"/>
                </a:solidFill>
              </a14:hiddenFill>
            </a:ext>
          </a:extLst>
        </p:spPr>
      </p:pic>
      <p:sp>
        <p:nvSpPr>
          <p:cNvPr id="362" name="Google Shape;362;p24"/>
          <p:cNvSpPr txBox="1"/>
          <p:nvPr/>
        </p:nvSpPr>
        <p:spPr>
          <a:xfrm>
            <a:off x="5981700" y="446410"/>
            <a:ext cx="6324600" cy="1107996"/>
          </a:xfrm>
          <a:prstGeom prst="rect">
            <a:avLst/>
          </a:prstGeom>
          <a:noFill/>
          <a:ln>
            <a:noFill/>
          </a:ln>
        </p:spPr>
        <p:txBody>
          <a:bodyPr spcFirstLastPara="1" wrap="square" lIns="0" tIns="0" rIns="0" bIns="0" anchor="t" anchorCtr="0">
            <a:spAutoFit/>
          </a:bodyPr>
          <a:lstStyle/>
          <a:p>
            <a:pPr marL="0" marR="0" lvl="0" indent="0" algn="l" rtl="0">
              <a:lnSpc>
                <a:spcPct val="90125"/>
              </a:lnSpc>
              <a:spcBef>
                <a:spcPts val="0"/>
              </a:spcBef>
              <a:spcAft>
                <a:spcPts val="0"/>
              </a:spcAft>
              <a:buNone/>
            </a:pPr>
            <a:r>
              <a:rPr lang="en-US" sz="8000" b="1" dirty="0" smtClean="0">
                <a:solidFill>
                  <a:schemeClr val="lt1"/>
                </a:solidFill>
                <a:latin typeface="MV Boli" panose="02000500030200090000" pitchFamily="2" charset="0"/>
                <a:ea typeface="Impact"/>
                <a:cs typeface="MV Boli" panose="02000500030200090000" pitchFamily="2" charset="0"/>
                <a:sym typeface="Impact"/>
              </a:rPr>
              <a:t>Conclusion</a:t>
            </a:r>
            <a:endParaRPr sz="8000" b="1" dirty="0">
              <a:solidFill>
                <a:schemeClr val="lt1"/>
              </a:solidFill>
              <a:latin typeface="MV Boli" panose="02000500030200090000" pitchFamily="2" charset="0"/>
              <a:ea typeface="Impact"/>
              <a:cs typeface="MV Boli" panose="02000500030200090000" pitchFamily="2" charset="0"/>
              <a:sym typeface="Impact"/>
            </a:endParaRPr>
          </a:p>
        </p:txBody>
      </p:sp>
      <p:sp>
        <p:nvSpPr>
          <p:cNvPr id="363" name="Google Shape;363;p24"/>
          <p:cNvSpPr/>
          <p:nvPr/>
        </p:nvSpPr>
        <p:spPr>
          <a:xfrm>
            <a:off x="685800" y="2324100"/>
            <a:ext cx="6858000" cy="6896099"/>
          </a:xfrm>
          <a:prstGeom prst="rect">
            <a:avLst/>
          </a:prstGeom>
          <a:noFill/>
          <a:ln>
            <a:noFill/>
          </a:ln>
        </p:spPr>
        <p:txBody>
          <a:bodyPr spcFirstLastPara="1" wrap="square" lIns="91425" tIns="45700" rIns="91425" bIns="45700" anchor="t" anchorCtr="0">
            <a:noAutofit/>
          </a:bodyPr>
          <a:lstStyle/>
          <a:p>
            <a:pPr algn="just"/>
            <a:r>
              <a:rPr lang="en-GB" sz="3600" dirty="0">
                <a:solidFill>
                  <a:schemeClr val="bg1"/>
                </a:solidFill>
                <a:latin typeface="Comic Sans MS" panose="030F0702030302020204" pitchFamily="66" charset="0"/>
              </a:rPr>
              <a:t>From the results and F1-score comparison, the Decision Tree model achieved the highest score and was automatically selected as the best model. This means that the Decision Tree classifier provides the most accurate and balanced predictions for this dataset, making it the most suitable choice for heart disease prediction in this project.</a:t>
            </a:r>
          </a:p>
        </p:txBody>
      </p:sp>
      <p:sp>
        <p:nvSpPr>
          <p:cNvPr id="365" name="Google Shape;365;p24"/>
          <p:cNvSpPr txBox="1"/>
          <p:nvPr/>
        </p:nvSpPr>
        <p:spPr>
          <a:xfrm>
            <a:off x="10782300" y="1766255"/>
            <a:ext cx="4114800" cy="1711879"/>
          </a:xfrm>
          <a:prstGeom prst="rect">
            <a:avLst/>
          </a:prstGeom>
          <a:noFill/>
          <a:ln>
            <a:noFill/>
          </a:ln>
        </p:spPr>
        <p:txBody>
          <a:bodyPr spcFirstLastPara="1" wrap="square" lIns="0" tIns="0" rIns="0" bIns="0" anchor="t" anchorCtr="0">
            <a:spAutoFit/>
          </a:bodyPr>
          <a:lstStyle/>
          <a:p>
            <a:pPr marL="0" marR="0" lvl="0" indent="0" algn="ctr" rtl="0">
              <a:lnSpc>
                <a:spcPct val="309000"/>
              </a:lnSpc>
              <a:spcBef>
                <a:spcPts val="0"/>
              </a:spcBef>
              <a:spcAft>
                <a:spcPts val="0"/>
              </a:spcAft>
              <a:buNone/>
            </a:pPr>
            <a:r>
              <a:rPr lang="en-US" sz="3600" b="1" dirty="0" smtClean="0">
                <a:solidFill>
                  <a:schemeClr val="lt1"/>
                </a:solidFill>
                <a:latin typeface="Comic Sans MS" panose="030F0702030302020204" pitchFamily="66" charset="0"/>
                <a:ea typeface="Times New Roman"/>
                <a:cs typeface="Times New Roman"/>
                <a:sym typeface="Times New Roman"/>
              </a:rPr>
              <a:t>Best Model </a:t>
            </a:r>
            <a:endParaRPr sz="3600" b="1" dirty="0">
              <a:solidFill>
                <a:schemeClr val="lt1"/>
              </a:solidFill>
              <a:latin typeface="Comic Sans MS" panose="030F0702030302020204" pitchFamily="66" charset="0"/>
              <a:ea typeface="Times New Roman"/>
              <a:cs typeface="Times New Roman"/>
              <a:sym typeface="Times New Roman"/>
            </a:endParaRPr>
          </a:p>
        </p:txBody>
      </p:sp>
      <p:pic>
        <p:nvPicPr>
          <p:cNvPr id="2" name="Picture 1"/>
          <p:cNvPicPr>
            <a:picLocks noChangeAspect="1"/>
          </p:cNvPicPr>
          <p:nvPr/>
        </p:nvPicPr>
        <p:blipFill>
          <a:blip r:embed="rId4"/>
          <a:stretch>
            <a:fillRect/>
          </a:stretch>
        </p:blipFill>
        <p:spPr>
          <a:xfrm>
            <a:off x="8210550" y="3415911"/>
            <a:ext cx="9448701" cy="318143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2"/>
                                        </p:tgtEl>
                                        <p:attrNameLst>
                                          <p:attrName>style.visibility</p:attrName>
                                        </p:attrNameLst>
                                      </p:cBhvr>
                                      <p:to>
                                        <p:strVal val="visible"/>
                                      </p:to>
                                    </p:set>
                                    <p:anim calcmode="lin" valueType="num">
                                      <p:cBhvr additive="base">
                                        <p:cTn id="7" dur="500"/>
                                        <p:tgtEl>
                                          <p:spTgt spid="362"/>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63"/>
                                        </p:tgtEl>
                                        <p:attrNameLst>
                                          <p:attrName>style.visibility</p:attrName>
                                        </p:attrNameLst>
                                      </p:cBhvr>
                                      <p:to>
                                        <p:strVal val="visible"/>
                                      </p:to>
                                    </p:set>
                                    <p:anim calcmode="lin" valueType="num">
                                      <p:cBhvr additive="base">
                                        <p:cTn id="12" dur="500"/>
                                        <p:tgtEl>
                                          <p:spTgt spid="363"/>
                                        </p:tgtEl>
                                        <p:attrNameLst>
                                          <p:attrName>ppt_y</p:attrName>
                                        </p:attrNameLst>
                                      </p:cBhvr>
                                      <p:tavLst>
                                        <p:tav tm="0">
                                          <p:val>
                                            <p:strVal val="#ppt_y+1"/>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65"/>
                                        </p:tgtEl>
                                        <p:attrNameLst>
                                          <p:attrName>style.visibility</p:attrName>
                                        </p:attrNameLst>
                                      </p:cBhvr>
                                      <p:to>
                                        <p:strVal val="visible"/>
                                      </p:to>
                                    </p:set>
                                    <p:anim calcmode="lin" valueType="num">
                                      <p:cBhvr additive="base">
                                        <p:cTn id="15" dur="500"/>
                                        <p:tgtEl>
                                          <p:spTgt spid="36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pic>
        <p:nvPicPr>
          <p:cNvPr id="4" name="Picture 4" descr="Cardiology: Common Causes of Heart Disorders - Florida Premier Cardiology  Boynton Beach, F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3535898" y="4124084"/>
            <a:ext cx="11275855" cy="1458861"/>
          </a:xfrm>
          <a:prstGeom prst="rect">
            <a:avLst/>
          </a:prstGeom>
        </p:spPr>
        <p:txBody>
          <a:bodyPr wrap="square">
            <a:spAutoFit/>
          </a:bodyPr>
          <a:lstStyle/>
          <a:p>
            <a:pPr lvl="0" algn="ctr">
              <a:lnSpc>
                <a:spcPct val="90125"/>
              </a:lnSpc>
            </a:pPr>
            <a:r>
              <a:rPr lang="en-US" sz="9600" b="1" dirty="0" smtClean="0">
                <a:solidFill>
                  <a:schemeClr val="lt1"/>
                </a:solidFill>
                <a:latin typeface="MV Boli" panose="02000500030200090000" pitchFamily="2" charset="0"/>
                <a:ea typeface="Impact"/>
                <a:cs typeface="MV Boli" panose="02000500030200090000" pitchFamily="2" charset="0"/>
                <a:sym typeface="Impact"/>
              </a:rPr>
              <a:t>Thank You !!</a:t>
            </a:r>
            <a:endParaRPr lang="en-US" sz="9600" b="1" dirty="0">
              <a:solidFill>
                <a:schemeClr val="lt1"/>
              </a:solidFill>
              <a:latin typeface="MV Boli" panose="02000500030200090000" pitchFamily="2" charset="0"/>
              <a:ea typeface="Impact"/>
              <a:cs typeface="MV Boli" panose="02000500030200090000" pitchFamily="2" charset="0"/>
              <a:sym typeface="Impac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216</TotalTime>
  <Words>536</Words>
  <Application>Microsoft Office PowerPoint</Application>
  <PresentationFormat>Custom</PresentationFormat>
  <Paragraphs>62</Paragraphs>
  <Slides>12</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Calibri</vt:lpstr>
      <vt:lpstr>Comic Sans MS</vt:lpstr>
      <vt:lpstr>Impact</vt:lpstr>
      <vt:lpstr>Ink Free</vt:lpstr>
      <vt:lpstr>MV Boli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Microsoft account</cp:lastModifiedBy>
  <cp:revision>30</cp:revision>
  <cp:lastPrinted>2025-11-15T07:08:19Z</cp:lastPrinted>
  <dcterms:modified xsi:type="dcterms:W3CDTF">2025-11-15T07:08:41Z</dcterms:modified>
</cp:coreProperties>
</file>